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EnKF's uncertainty is the spread of its 100 members. In the original filter the members almost agreed, so the spread was about 1% of the real error. Because the Kalman update weighs forecast against observations by their uncertainty, a filter that thinks its forecast is perfect ignores the robots: the update moved the estimate by only 0.2% of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code multiplied the process noise by 0.01. The forecast model damps the differences between members, so the spread settles at the size of the noise added each step: 1% of the error. Changing only that constant brings spread/RMSE to 0.96 and CRPS down by 20%. But the noise was independent per cell with one size everywhere, so the uncertainty was flat in space and did not point at the risky cells, especially for velocity. That is what the fix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inventing noise, we use the forecast model's real mistakes. On training days we feed in the true state, predict one step, and subtract the prediction from the true next frame. 8,192 such error maps make the bank. We subtract their average, so only the random part remains; the systematic part is the bias correction's job. In filtering each member adds one map drawn at random. Real error maps have the right shape, so the spread does too. Against Gaussian noise of the same size, CRPS drops 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noise step. Draw one error map. Give it memory over time: half of last step's noise carries over, and the square-root factor keeps the size unchanged. Scale by 1.5, and more on cells no robot currently sees; this uses the robots' positions, not the truth. Subtract the mean over the members, so the noise spreads the ensemble without moving its mean. Add it to the bias-corrected forecast. Density is perturbed in log(1+density) so it stays non-negative. One last detail: the bank is used at its own measured size. An earlier version rescaled it to a size borrowed from the original project, which for velocity variance was several times too large and, after clipping at zero, pushed the variance estimate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changed: the forecast model, now our retrained one seeing five frames, and the process noise. The Kalman update and the bias correction are the original ones, so the comparison on the next slide isolates these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filters run through the same code on the same observations and are scored exactly as in the six-method comparison. The uncertainty goes from unusable to usable: spread from 1% of the error to about 1.0 times it, and CRPS skill from negative, worse than a constant sigma, to positive. Pooled RMSE is slightly lower than the original; velocity variance is still somewhat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second the filter forecasts each member with the retrained model, adds a real error map as noise, pulls the members towards the robots' observations, updates the slow bias estimate, and outputs the mean as the reconstruction and the spread as the uncertainty. Only the forecast model and the noise were changed; the update and the bias correction are the original ones. We checked the bias correction: switching it off makes RMSE 25%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274320"/>
            <a:ext cx="754380" cy="246888"/>
          </a:xfrm>
          <a:prstGeom prst="roundRect">
            <a:avLst>
              <a:gd name="adj" fmla="val 48148"/>
            </a:avLst>
          </a:prstGeom>
          <a:solidFill>
            <a:srgbClr val="C0392B"/>
          </a:solidFill>
          <a:ln w="12700">
            <a:solidFill>
              <a:srgbClr val="C0392B"/>
            </a:solidFill>
            <a:prstDash val="solid"/>
          </a:ln>
        </p:spPr>
      </p:sp>
      <p:sp>
        <p:nvSpPr>
          <p:cNvPr id="3" name="Text 1"/>
          <p:cNvSpPr txBox="1"/>
          <p:nvPr/>
        </p:nvSpPr>
        <p:spPr>
          <a:xfrm>
            <a:off x="457200" y="274320"/>
            <a:ext cx="754380"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The problem: the EnKF's uncertainty had collapsed</a:t>
            </a:r>
            <a:endParaRPr lang="en-US" sz="2200" dirty="0"/>
          </a:p>
        </p:txBody>
      </p:sp>
      <p:sp>
        <p:nvSpPr>
          <p:cNvPr id="5" name="Shape 3"/>
          <p:cNvSpPr/>
          <p:nvPr/>
        </p:nvSpPr>
        <p:spPr>
          <a:xfrm>
            <a:off x="457200" y="1325880"/>
            <a:ext cx="3749040" cy="3017520"/>
          </a:xfrm>
          <a:prstGeom prst="roundRect">
            <a:avLst>
              <a:gd name="adj" fmla="val 2424"/>
            </a:avLst>
          </a:prstGeom>
          <a:solidFill>
            <a:srgbClr val="F1F4F6"/>
          </a:solidFill>
          <a:ln w="12700">
            <a:solidFill>
              <a:srgbClr val="F1F4F6"/>
            </a:solidFill>
            <a:prstDash val="solid"/>
          </a:ln>
        </p:spPr>
      </p:sp>
      <p:sp>
        <p:nvSpPr>
          <p:cNvPr id="6" name="Text 4"/>
          <p:cNvSpPr txBox="1"/>
          <p:nvPr/>
        </p:nvSpPr>
        <p:spPr>
          <a:xfrm>
            <a:off x="685800" y="1508760"/>
            <a:ext cx="3291840" cy="274320"/>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Ensemble spread (σ̂)</a:t>
            </a:r>
            <a:endParaRPr lang="en-US" sz="1200" dirty="0"/>
          </a:p>
        </p:txBody>
      </p:sp>
      <p:sp>
        <p:nvSpPr>
          <p:cNvPr id="7" name="Text 5"/>
          <p:cNvSpPr txBox="1"/>
          <p:nvPr/>
        </p:nvSpPr>
        <p:spPr>
          <a:xfrm>
            <a:off x="685800" y="1783080"/>
            <a:ext cx="3291840" cy="64008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0.0025</a:t>
            </a:r>
            <a:endParaRPr lang="en-US" sz="3600" dirty="0"/>
          </a:p>
        </p:txBody>
      </p:sp>
      <p:sp>
        <p:nvSpPr>
          <p:cNvPr id="8" name="Text 6"/>
          <p:cNvSpPr txBox="1"/>
          <p:nvPr/>
        </p:nvSpPr>
        <p:spPr>
          <a:xfrm>
            <a:off x="685800" y="2560320"/>
            <a:ext cx="3291840" cy="274320"/>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Actual error (RMSE)</a:t>
            </a:r>
            <a:endParaRPr lang="en-US" sz="1200" dirty="0"/>
          </a:p>
        </p:txBody>
      </p:sp>
      <p:sp>
        <p:nvSpPr>
          <p:cNvPr id="9" name="Text 7"/>
          <p:cNvSpPr txBox="1"/>
          <p:nvPr/>
        </p:nvSpPr>
        <p:spPr>
          <a:xfrm>
            <a:off x="685800" y="2834640"/>
            <a:ext cx="3291840" cy="640080"/>
          </a:xfrm>
          <a:prstGeom prst="rect">
            <a:avLst/>
          </a:prstGeom>
          <a:noFill/>
          <a:ln/>
        </p:spPr>
        <p:txBody>
          <a:bodyPr wrap="square" lIns="0" tIns="0" rIns="0" bIns="0" rtlCol="0" anchor="ctr"/>
          <a:lstStyle/>
          <a:p>
            <a:pPr indent="0" marL="0">
              <a:buNone/>
            </a:pPr>
            <a:r>
              <a:rPr lang="en-US" sz="3600" b="1" dirty="0">
                <a:solidFill>
                  <a:srgbClr val="1D2B36"/>
                </a:solidFill>
                <a:latin typeface="Cambria" pitchFamily="34" charset="0"/>
                <a:ea typeface="Cambria" pitchFamily="34" charset="-122"/>
                <a:cs typeface="Cambria" pitchFamily="34" charset="-120"/>
              </a:rPr>
              <a:t>0.24</a:t>
            </a:r>
            <a:endParaRPr lang="en-US" sz="3600" dirty="0"/>
          </a:p>
        </p:txBody>
      </p:sp>
      <p:sp>
        <p:nvSpPr>
          <p:cNvPr id="10" name="Text 8"/>
          <p:cNvSpPr txBox="1"/>
          <p:nvPr/>
        </p:nvSpPr>
        <p:spPr>
          <a:xfrm>
            <a:off x="4526280" y="1463040"/>
            <a:ext cx="4160520" cy="2743200"/>
          </a:xfrm>
          <a:prstGeom prst="rect">
            <a:avLst/>
          </a:prstGeom>
          <a:noFill/>
          <a:ln/>
        </p:spPr>
        <p:txBody>
          <a:bodyPr wrap="square" lIns="0" tIns="0" rIns="0" bIns="0" rtlCol="0" anchor="t"/>
          <a:lstStyle/>
          <a:p>
            <a:pPr marL="152400" indent="-152400">
              <a:spcAft>
                <a:spcPts val="500"/>
              </a:spcAft>
              <a:buSzPct val="100000"/>
              <a:buChar char="•"/>
            </a:pPr>
            <a:r>
              <a:rPr lang="en-US" sz="1400" b="1" dirty="0">
                <a:solidFill>
                  <a:srgbClr val="1D2B36"/>
                </a:solidFill>
                <a:latin typeface="Calibri" pitchFamily="34" charset="0"/>
                <a:ea typeface="Calibri" pitchFamily="34" charset="-122"/>
                <a:cs typeface="Calibri" pitchFamily="34" charset="-120"/>
              </a:rPr>
              <a:t>σ̂ is the spread of the 100 members. </a:t>
            </a:r>
            <a:pPr indent="0" marL="0">
              <a:spcAft>
                <a:spcPts val="500"/>
              </a:spcAft>
              <a:buNone/>
            </a:pPr>
            <a:r>
              <a:rPr lang="en-US" sz="1400" dirty="0">
                <a:solidFill>
                  <a:srgbClr val="1D2B36"/>
                </a:solidFill>
                <a:latin typeface="Calibri" pitchFamily="34" charset="0"/>
                <a:ea typeface="Calibri" pitchFamily="34" charset="-122"/>
                <a:cs typeface="Calibri" pitchFamily="34" charset="-120"/>
              </a:rPr>
              <a:t>It was about 1% of the real error: the filter was a hundred times too confident.</a:t>
            </a:r>
            <a:endParaRPr lang="en-US" sz="1400" dirty="0"/>
          </a:p>
          <a:p>
            <a:pPr marL="152400" indent="-152400">
              <a:spcAft>
                <a:spcPts val="500"/>
              </a:spcAft>
              <a:buSzPct val="100000"/>
              <a:buChar char="•"/>
            </a:pPr>
            <a:r>
              <a:rPr lang="en-US" sz="1400" b="1" dirty="0">
                <a:solidFill>
                  <a:srgbClr val="1D2B36"/>
                </a:solidFill>
                <a:latin typeface="Calibri" pitchFamily="34" charset="0"/>
                <a:ea typeface="Calibri" pitchFamily="34" charset="-122"/>
                <a:cs typeface="Calibri" pitchFamily="34" charset="-120"/>
              </a:rPr>
              <a:t>So the robots were ignored. </a:t>
            </a:r>
            <a:pPr indent="0" marL="0">
              <a:spcAft>
                <a:spcPts val="500"/>
              </a:spcAft>
              <a:buNone/>
            </a:pPr>
            <a:r>
              <a:rPr lang="en-US" sz="1400" dirty="0">
                <a:solidFill>
                  <a:srgbClr val="1D2B36"/>
                </a:solidFill>
                <a:latin typeface="Calibri" pitchFamily="34" charset="0"/>
                <a:ea typeface="Calibri" pitchFamily="34" charset="-122"/>
                <a:cs typeface="Calibri" pitchFamily="34" charset="-120"/>
              </a:rPr>
              <a:t>The Kalman update moved the estimate only 0.2% of the way towards the observations.</a:t>
            </a:r>
            <a:endParaRPr lang="en-US" sz="1400" dirty="0"/>
          </a:p>
        </p:txBody>
      </p:sp>
      <p:sp>
        <p:nvSpPr>
          <p:cNvPr id="11" name="Text 9"/>
          <p:cNvSpPr txBox="1"/>
          <p:nvPr/>
        </p:nvSpPr>
        <p:spPr>
          <a:xfrm>
            <a:off x="457200" y="4754880"/>
            <a:ext cx="7680960" cy="274320"/>
          </a:xfrm>
          <a:prstGeom prst="rect">
            <a:avLst/>
          </a:prstGeom>
          <a:noFill/>
          <a:ln/>
        </p:spPr>
        <p:txBody>
          <a:bodyPr wrap="square" lIns="0" tIns="0" rIns="0" bIns="0" rtlCol="0" anchor="t"/>
          <a:lstStyle/>
          <a:p>
            <a:pPr indent="0" marL="0">
              <a:buNone/>
            </a:pPr>
            <a:r>
              <a:rPr lang="en-US" sz="850" i="1" dirty="0">
                <a:solidFill>
                  <a:srgbClr val="5B6773"/>
                </a:solidFill>
                <a:latin typeface="Calibri" pitchFamily="34" charset="0"/>
                <a:ea typeface="Calibri" pitchFamily="34" charset="-122"/>
                <a:cs typeface="Calibri" pitchFamily="34" charset="-120"/>
              </a:rPr>
              <a:t>Original configuration, test days.</a:t>
            </a:r>
            <a:endParaRPr lang="en-US" sz="850" dirty="0"/>
          </a:p>
        </p:txBody>
      </p:sp>
      <p:sp>
        <p:nvSpPr>
          <p:cNvPr id="12" name="Text 10"/>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74320"/>
            <a:ext cx="580644" cy="246888"/>
          </a:xfrm>
          <a:prstGeom prst="roundRect">
            <a:avLst>
              <a:gd name="adj" fmla="val 48148"/>
            </a:avLst>
          </a:prstGeom>
          <a:solidFill>
            <a:srgbClr val="B9770E"/>
          </a:solidFill>
          <a:ln w="12700">
            <a:solidFill>
              <a:srgbClr val="B9770E"/>
            </a:solidFill>
            <a:prstDash val="solid"/>
          </a:ln>
        </p:spPr>
      </p:sp>
      <p:sp>
        <p:nvSpPr>
          <p:cNvPr id="3" name="Text 1"/>
          <p:cNvSpPr txBox="1"/>
          <p:nvPr/>
        </p:nvSpPr>
        <p:spPr>
          <a:xfrm>
            <a:off x="457200" y="274320"/>
            <a:ext cx="580644"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CAUSE</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The cause: only 1% of the process noise was added</a:t>
            </a:r>
            <a:endParaRPr lang="en-US" sz="2200" dirty="0"/>
          </a:p>
        </p:txBody>
      </p:sp>
      <p:sp>
        <p:nvSpPr>
          <p:cNvPr id="5" name="Shape 3"/>
          <p:cNvSpPr/>
          <p:nvPr/>
        </p:nvSpPr>
        <p:spPr>
          <a:xfrm>
            <a:off x="457200" y="1325880"/>
            <a:ext cx="3931920" cy="713232"/>
          </a:xfrm>
          <a:prstGeom prst="roundRect">
            <a:avLst>
              <a:gd name="adj" fmla="val 10256"/>
            </a:avLst>
          </a:prstGeom>
          <a:solidFill>
            <a:srgbClr val="1F2A33"/>
          </a:solidFill>
          <a:ln w="12700">
            <a:solidFill>
              <a:srgbClr val="1F2A33"/>
            </a:solidFill>
            <a:prstDash val="solid"/>
          </a:ln>
        </p:spPr>
      </p:sp>
      <p:sp>
        <p:nvSpPr>
          <p:cNvPr id="6" name="Text 4"/>
          <p:cNvSpPr txBox="1"/>
          <p:nvPr/>
        </p:nvSpPr>
        <p:spPr>
          <a:xfrm>
            <a:off x="621792" y="1417320"/>
            <a:ext cx="3703320" cy="292608"/>
          </a:xfrm>
          <a:prstGeom prst="rect">
            <a:avLst/>
          </a:prstGeom>
          <a:noFill/>
          <a:ln/>
        </p:spPr>
        <p:txBody>
          <a:bodyPr wrap="square" lIns="0" tIns="0" rIns="0" bIns="0" rtlCol="0" anchor="ctr"/>
          <a:lstStyle/>
          <a:p>
            <a:pPr indent="0" marL="0">
              <a:buNone/>
            </a:pPr>
            <a:r>
              <a:rPr lang="en-US" sz="1050" dirty="0">
                <a:solidFill>
                  <a:srgbClr val="E6EDF3"/>
                </a:solidFill>
                <a:latin typeface="Courier New" pitchFamily="34" charset="0"/>
                <a:ea typeface="Courier New" pitchFamily="34" charset="-122"/>
                <a:cs typeface="Courier New" pitchFamily="34" charset="-120"/>
              </a:rPr>
              <a:t>X_f += rng.normal(0, </a:t>
            </a:r>
            <a:pPr indent="0" marL="0">
              <a:buNone/>
            </a:pPr>
            <a:r>
              <a:rPr lang="en-US" sz="1050" b="1" dirty="0">
                <a:solidFill>
                  <a:srgbClr val="FF8A80"/>
                </a:solidFill>
                <a:latin typeface="Courier New" pitchFamily="34" charset="0"/>
                <a:ea typeface="Courier New" pitchFamily="34" charset="-122"/>
                <a:cs typeface="Courier New" pitchFamily="34" charset="-120"/>
              </a:rPr>
              <a:t>0.01</a:t>
            </a:r>
            <a:pPr indent="0" marL="0">
              <a:buNone/>
            </a:pPr>
            <a:r>
              <a:rPr lang="en-US" sz="1050" dirty="0">
                <a:solidFill>
                  <a:srgbClr val="E6EDF3"/>
                </a:solidFill>
                <a:latin typeface="Courier New" pitchFamily="34" charset="0"/>
                <a:ea typeface="Courier New" pitchFamily="34" charset="-122"/>
                <a:cs typeface="Courier New" pitchFamily="34" charset="-120"/>
              </a:rPr>
              <a:t> * proc_noise_vec)</a:t>
            </a:r>
            <a:endParaRPr lang="en-US" sz="1050" dirty="0"/>
          </a:p>
        </p:txBody>
      </p:sp>
      <p:sp>
        <p:nvSpPr>
          <p:cNvPr id="7" name="Text 5"/>
          <p:cNvSpPr txBox="1"/>
          <p:nvPr/>
        </p:nvSpPr>
        <p:spPr>
          <a:xfrm>
            <a:off x="621792" y="1737360"/>
            <a:ext cx="3657600" cy="228600"/>
          </a:xfrm>
          <a:prstGeom prst="rect">
            <a:avLst/>
          </a:prstGeom>
          <a:noFill/>
          <a:ln/>
        </p:spPr>
        <p:txBody>
          <a:bodyPr wrap="square" lIns="0" tIns="0" rIns="0" bIns="0" rtlCol="0" anchor="ctr"/>
          <a:lstStyle/>
          <a:p>
            <a:pPr indent="0" marL="0">
              <a:buNone/>
            </a:pPr>
            <a:r>
              <a:rPr lang="en-US" sz="900" i="1" dirty="0">
                <a:solidFill>
                  <a:srgbClr val="AAB6C1"/>
                </a:solidFill>
                <a:latin typeface="Calibri" pitchFamily="34" charset="0"/>
                <a:ea typeface="Calibri" pitchFamily="34" charset="-122"/>
                <a:cs typeface="Calibri" pitchFamily="34" charset="-120"/>
              </a:rPr>
              <a:t>original forecast step</a:t>
            </a:r>
            <a:endParaRPr lang="en-US" sz="900" dirty="0"/>
          </a:p>
        </p:txBody>
      </p:sp>
      <p:sp>
        <p:nvSpPr>
          <p:cNvPr id="8" name="Text 6"/>
          <p:cNvSpPr txBox="1"/>
          <p:nvPr/>
        </p:nvSpPr>
        <p:spPr>
          <a:xfrm>
            <a:off x="457200" y="2286000"/>
            <a:ext cx="3931920" cy="1280160"/>
          </a:xfrm>
          <a:prstGeom prst="rect">
            <a:avLst/>
          </a:prstGeom>
          <a:noFill/>
          <a:ln/>
        </p:spPr>
        <p:txBody>
          <a:bodyPr wrap="square" lIns="0" tIns="0" rIns="0" bIns="0" rtlCol="0" anchor="t"/>
          <a:lstStyle/>
          <a:p>
            <a:pPr indent="0" marL="0">
              <a:buNone/>
            </a:pPr>
            <a:r>
              <a:rPr lang="en-US" sz="1300" dirty="0">
                <a:solidFill>
                  <a:srgbClr val="1D2B36"/>
                </a:solidFill>
                <a:latin typeface="Calibri" pitchFamily="34" charset="0"/>
                <a:ea typeface="Calibri" pitchFamily="34" charset="-122"/>
                <a:cs typeface="Calibri" pitchFamily="34" charset="-120"/>
              </a:rPr>
              <a:t>The forecast model pulls the members together every step; the spread settles at the size of the noise that is added back. At 0.01 × that is 1% of the error.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4023360" cy="914400"/>
        </p:xfrm>
        <a:graphic>
          <a:graphicData uri="http://schemas.openxmlformats.org/drawingml/2006/table">
            <a:tbl>
              <a:tblPr/>
              <a:tblGrid>
                <a:gridCol w="1645920"/>
                <a:gridCol w="1188720"/>
                <a:gridCol w="1188720"/>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Noise multiplier</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Spread / RMSE</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CRPS ↓</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r>
              <a:tr h="384048">
                <a:tc>
                  <a:txBody>
                    <a:bodyPr/>
                    <a:lstStyle/>
                    <a:p>
                      <a:pPr algn="l" indent="0" marL="0">
                        <a:buNone/>
                      </a:pPr>
                      <a:r>
                        <a:rPr lang="en-US" sz="1150" dirty="0">
                          <a:solidFill>
                            <a:srgbClr val="1D2B36"/>
                          </a:solidFill>
                          <a:latin typeface="Calibri" pitchFamily="34" charset="0"/>
                          <a:ea typeface="Calibri" pitchFamily="34" charset="-122"/>
                          <a:cs typeface="Calibri" pitchFamily="34" charset="-120"/>
                        </a:rPr>
                        <a:t>0.01 (original)</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0.013</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0.122</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1D2B36"/>
                          </a:solidFill>
                          <a:latin typeface="Calibri" pitchFamily="34" charset="0"/>
                          <a:ea typeface="Calibri" pitchFamily="34" charset="-122"/>
                          <a:cs typeface="Calibri" pitchFamily="34" charset="-120"/>
                        </a:rPr>
                        <a:t>1 (full strength)</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3F1EE"/>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0.956</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3F1EE"/>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0.097</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3F1EE"/>
                    </a:solidFill>
                  </a:tcPr>
                </a:tc>
              </a:tr>
            </a:tbl>
          </a:graphicData>
        </a:graphic>
      </p:graphicFrame>
      <p:sp>
        <p:nvSpPr>
          <p:cNvPr id="10" name="Text 7"/>
          <p:cNvSpPr txBox="1"/>
          <p:nvPr/>
        </p:nvSpPr>
        <p:spPr>
          <a:xfrm>
            <a:off x="4663440" y="2697480"/>
            <a:ext cx="4023360" cy="1463040"/>
          </a:xfrm>
          <a:prstGeom prst="rect">
            <a:avLst/>
          </a:prstGeom>
          <a:noFill/>
          <a:ln/>
        </p:spPr>
        <p:txBody>
          <a:bodyPr wrap="square" lIns="0" tIns="0" rIns="0" bIns="0" rtlCol="0" anchor="t"/>
          <a:lstStyle/>
          <a:p>
            <a:pPr indent="0" marL="0">
              <a:buNone/>
            </a:pPr>
            <a:r>
              <a:rPr lang="en-US" sz="1200" dirty="0">
                <a:solidFill>
                  <a:srgbClr val="1D2B36"/>
                </a:solidFill>
                <a:latin typeface="Calibri" pitchFamily="34" charset="0"/>
                <a:ea typeface="Calibri" pitchFamily="34" charset="-122"/>
                <a:cs typeface="Calibri" pitchFamily="34" charset="-120"/>
              </a:rPr>
              <a:t>Changing only this constant already fixes the size of the uncertainty. But with independent noise per cell, σ̂ was nearly flat in space and could not show where the errors are.</a:t>
            </a:r>
            <a:endParaRPr lang="en-US" sz="1200" dirty="0"/>
          </a:p>
        </p:txBody>
      </p:sp>
      <p:sp>
        <p:nvSpPr>
          <p:cNvPr id="11" name="Text 8"/>
          <p:cNvSpPr txBox="1"/>
          <p:nvPr/>
        </p:nvSpPr>
        <p:spPr>
          <a:xfrm>
            <a:off x="457200" y="4754880"/>
            <a:ext cx="7680960" cy="274320"/>
          </a:xfrm>
          <a:prstGeom prst="rect">
            <a:avLst/>
          </a:prstGeom>
          <a:noFill/>
          <a:ln/>
        </p:spPr>
        <p:txBody>
          <a:bodyPr wrap="square" lIns="0" tIns="0" rIns="0" bIns="0" rtlCol="0" anchor="t"/>
          <a:lstStyle/>
          <a:p>
            <a:pPr indent="0" marL="0">
              <a:buNone/>
            </a:pPr>
            <a:r>
              <a:rPr lang="en-US" sz="850" i="1" dirty="0">
                <a:solidFill>
                  <a:srgbClr val="5B6773"/>
                </a:solidFill>
                <a:latin typeface="Calibri" pitchFamily="34" charset="0"/>
                <a:ea typeface="Calibri" pitchFamily="34" charset="-122"/>
                <a:cs typeface="Calibri" pitchFamily="34" charset="-120"/>
              </a:rPr>
              <a:t>Original filter, only the multiplier changed; one test day.</a:t>
            </a:r>
            <a:endParaRPr lang="en-US" sz="850" dirty="0"/>
          </a:p>
        </p:txBody>
      </p:sp>
      <p:sp>
        <p:nvSpPr>
          <p:cNvPr id="12" name="Text 9"/>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74320"/>
            <a:ext cx="406908" cy="246888"/>
          </a:xfrm>
          <a:prstGeom prst="roundRect">
            <a:avLst>
              <a:gd name="adj" fmla="val 48148"/>
            </a:avLst>
          </a:prstGeom>
          <a:solidFill>
            <a:srgbClr val="1B7F72"/>
          </a:solidFill>
          <a:ln w="12700">
            <a:solidFill>
              <a:srgbClr val="1B7F72"/>
            </a:solidFill>
            <a:prstDash val="solid"/>
          </a:ln>
        </p:spPr>
      </p:sp>
      <p:sp>
        <p:nvSpPr>
          <p:cNvPr id="3" name="Text 1"/>
          <p:cNvSpPr txBox="1"/>
          <p:nvPr/>
        </p:nvSpPr>
        <p:spPr>
          <a:xfrm>
            <a:off x="457200" y="274320"/>
            <a:ext cx="406908"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FIX</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The fix: add real forecast errors as the noise</a:t>
            </a:r>
            <a:endParaRPr lang="en-US" sz="2200" dirty="0"/>
          </a:p>
        </p:txBody>
      </p:sp>
      <p:sp>
        <p:nvSpPr>
          <p:cNvPr id="5" name="Shape 3"/>
          <p:cNvSpPr/>
          <p:nvPr/>
        </p:nvSpPr>
        <p:spPr>
          <a:xfrm>
            <a:off x="457200" y="1344168"/>
            <a:ext cx="329184" cy="329184"/>
          </a:xfrm>
          <a:prstGeom prst="ellipse">
            <a:avLst/>
          </a:prstGeom>
          <a:solidFill>
            <a:srgbClr val="1B7F72"/>
          </a:solidFill>
          <a:ln w="12700">
            <a:solidFill>
              <a:srgbClr val="1B7F72"/>
            </a:solidFill>
            <a:prstDash val="solid"/>
          </a:ln>
        </p:spPr>
      </p:sp>
      <p:sp>
        <p:nvSpPr>
          <p:cNvPr id="6" name="Text 4"/>
          <p:cNvSpPr txBox="1"/>
          <p:nvPr/>
        </p:nvSpPr>
        <p:spPr>
          <a:xfrm>
            <a:off x="457200" y="13441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914400" y="1325880"/>
            <a:ext cx="4206240" cy="274320"/>
          </a:xfrm>
          <a:prstGeom prst="rect">
            <a:avLst/>
          </a:prstGeom>
          <a:noFill/>
          <a:ln/>
        </p:spPr>
        <p:txBody>
          <a:bodyPr wrap="square" lIns="0" tIns="0" rIns="0" bIns="0" rtlCol="0" anchor="ctr"/>
          <a:lstStyle/>
          <a:p>
            <a:pPr indent="0" marL="0">
              <a:buNone/>
            </a:pPr>
            <a:r>
              <a:rPr lang="en-US" sz="1300" b="1" dirty="0">
                <a:solidFill>
                  <a:srgbClr val="1D2B36"/>
                </a:solidFill>
                <a:latin typeface="Calibri" pitchFamily="34" charset="0"/>
                <a:ea typeface="Calibri" pitchFamily="34" charset="-122"/>
                <a:cs typeface="Calibri" pitchFamily="34" charset="-120"/>
              </a:rPr>
              <a:t>Record the model's one-step errors</a:t>
            </a:r>
            <a:endParaRPr lang="en-US" sz="1300" dirty="0"/>
          </a:p>
        </p:txBody>
      </p:sp>
      <p:sp>
        <p:nvSpPr>
          <p:cNvPr id="8" name="Text 6"/>
          <p:cNvSpPr txBox="1"/>
          <p:nvPr/>
        </p:nvSpPr>
        <p:spPr>
          <a:xfrm>
            <a:off x="914400" y="1627632"/>
            <a:ext cx="4206240" cy="274320"/>
          </a:xfrm>
          <a:prstGeom prst="rect">
            <a:avLst/>
          </a:prstGeom>
          <a:noFill/>
          <a:ln/>
        </p:spPr>
        <p:txBody>
          <a:bodyPr wrap="square" lIns="0" tIns="0" rIns="0" bIns="0" rtlCol="0" anchor="ctr"/>
          <a:lstStyle/>
          <a:p>
            <a:pPr indent="0" marL="0">
              <a:buNone/>
            </a:pPr>
            <a:r>
              <a:rPr lang="en-US" sz="1300" i="1" dirty="0">
                <a:solidFill>
                  <a:srgbClr val="1B7F72"/>
                </a:solidFill>
                <a:latin typeface="Cambria" pitchFamily="34" charset="0"/>
                <a:ea typeface="Cambria" pitchFamily="34" charset="-122"/>
                <a:cs typeface="Cambria" pitchFamily="34" charset="-120"/>
              </a:rPr>
              <a:t>r = x(t+1) − f( x(t−4), …, x(t) )</a:t>
            </a:r>
            <a:endParaRPr lang="en-US" sz="1300" dirty="0"/>
          </a:p>
        </p:txBody>
      </p:sp>
      <p:sp>
        <p:nvSpPr>
          <p:cNvPr id="9" name="Text 7"/>
          <p:cNvSpPr txBox="1"/>
          <p:nvPr/>
        </p:nvSpPr>
        <p:spPr>
          <a:xfrm>
            <a:off x="914400" y="1911096"/>
            <a:ext cx="4206240" cy="274320"/>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32 training days → 8,192 whole error maps, all four channels</a:t>
            </a:r>
            <a:endParaRPr lang="en-US" sz="1000" dirty="0"/>
          </a:p>
        </p:txBody>
      </p:sp>
      <p:sp>
        <p:nvSpPr>
          <p:cNvPr id="10" name="Shape 8"/>
          <p:cNvSpPr/>
          <p:nvPr/>
        </p:nvSpPr>
        <p:spPr>
          <a:xfrm>
            <a:off x="457200" y="2304288"/>
            <a:ext cx="329184" cy="329184"/>
          </a:xfrm>
          <a:prstGeom prst="ellipse">
            <a:avLst/>
          </a:prstGeom>
          <a:solidFill>
            <a:srgbClr val="1B7F72"/>
          </a:solidFill>
          <a:ln w="12700">
            <a:solidFill>
              <a:srgbClr val="1B7F72"/>
            </a:solidFill>
            <a:prstDash val="solid"/>
          </a:ln>
        </p:spPr>
      </p:sp>
      <p:sp>
        <p:nvSpPr>
          <p:cNvPr id="11" name="Text 9"/>
          <p:cNvSpPr txBox="1"/>
          <p:nvPr/>
        </p:nvSpPr>
        <p:spPr>
          <a:xfrm>
            <a:off x="457200" y="23042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914400" y="2286000"/>
            <a:ext cx="4206240" cy="274320"/>
          </a:xfrm>
          <a:prstGeom prst="rect">
            <a:avLst/>
          </a:prstGeom>
          <a:noFill/>
          <a:ln/>
        </p:spPr>
        <p:txBody>
          <a:bodyPr wrap="square" lIns="0" tIns="0" rIns="0" bIns="0" rtlCol="0" anchor="ctr"/>
          <a:lstStyle/>
          <a:p>
            <a:pPr indent="0" marL="0">
              <a:buNone/>
            </a:pPr>
            <a:r>
              <a:rPr lang="en-US" sz="1300" b="1" dirty="0">
                <a:solidFill>
                  <a:srgbClr val="1D2B36"/>
                </a:solidFill>
                <a:latin typeface="Calibri" pitchFamily="34" charset="0"/>
                <a:ea typeface="Calibri" pitchFamily="34" charset="-122"/>
                <a:cs typeface="Calibri" pitchFamily="34" charset="-120"/>
              </a:rPr>
              <a:t>Remove their average</a:t>
            </a:r>
            <a:endParaRPr lang="en-US" sz="1300" dirty="0"/>
          </a:p>
        </p:txBody>
      </p:sp>
      <p:sp>
        <p:nvSpPr>
          <p:cNvPr id="13" name="Text 11"/>
          <p:cNvSpPr txBox="1"/>
          <p:nvPr/>
        </p:nvSpPr>
        <p:spPr>
          <a:xfrm>
            <a:off x="914400" y="2587752"/>
            <a:ext cx="4206240" cy="274320"/>
          </a:xfrm>
          <a:prstGeom prst="rect">
            <a:avLst/>
          </a:prstGeom>
          <a:noFill/>
          <a:ln/>
        </p:spPr>
        <p:txBody>
          <a:bodyPr wrap="square" lIns="0" tIns="0" rIns="0" bIns="0" rtlCol="0" anchor="ctr"/>
          <a:lstStyle/>
          <a:p>
            <a:pPr indent="0" marL="0">
              <a:buNone/>
            </a:pPr>
            <a:r>
              <a:rPr lang="en-US" sz="1300" i="1" dirty="0">
                <a:solidFill>
                  <a:srgbClr val="1B7F72"/>
                </a:solidFill>
                <a:latin typeface="Cambria" pitchFamily="34" charset="0"/>
                <a:ea typeface="Cambria" pitchFamily="34" charset="-122"/>
                <a:cs typeface="Cambria" pitchFamily="34" charset="-120"/>
              </a:rPr>
              <a:t>r</a:t>
            </a:r>
            <a:pPr indent="0" marL="0">
              <a:buNone/>
            </a:pPr>
            <a:r>
              <a:rPr lang="en-US" sz="1300" i="1" baseline="-40000" dirty="0">
                <a:solidFill>
                  <a:srgbClr val="1B7F72"/>
                </a:solidFill>
                <a:latin typeface="Cambria" pitchFamily="34" charset="0"/>
                <a:ea typeface="Cambria" pitchFamily="34" charset="-122"/>
                <a:cs typeface="Cambria" pitchFamily="34" charset="-120"/>
              </a:rPr>
              <a:t>k</a:t>
            </a:r>
            <a:pPr indent="0" marL="0">
              <a:buNone/>
            </a:pPr>
            <a:r>
              <a:rPr lang="en-US" sz="1300" i="1" dirty="0">
                <a:solidFill>
                  <a:srgbClr val="1B7F72"/>
                </a:solidFill>
                <a:latin typeface="Cambria" pitchFamily="34" charset="0"/>
                <a:ea typeface="Cambria" pitchFamily="34" charset="-122"/>
                <a:cs typeface="Cambria" pitchFamily="34" charset="-120"/>
              </a:rPr>
              <a:t> ← r</a:t>
            </a:r>
            <a:pPr indent="0" marL="0">
              <a:buNone/>
            </a:pPr>
            <a:r>
              <a:rPr lang="en-US" sz="1300" i="1" baseline="-40000" dirty="0">
                <a:solidFill>
                  <a:srgbClr val="1B7F72"/>
                </a:solidFill>
                <a:latin typeface="Cambria" pitchFamily="34" charset="0"/>
                <a:ea typeface="Cambria" pitchFamily="34" charset="-122"/>
                <a:cs typeface="Cambria" pitchFamily="34" charset="-120"/>
              </a:rPr>
              <a:t>k</a:t>
            </a:r>
            <a:pPr indent="0" marL="0">
              <a:buNone/>
            </a:pPr>
            <a:r>
              <a:rPr lang="en-US" sz="1300" i="1" dirty="0">
                <a:solidFill>
                  <a:srgbClr val="1B7F72"/>
                </a:solidFill>
                <a:latin typeface="Cambria" pitchFamily="34" charset="0"/>
                <a:ea typeface="Cambria" pitchFamily="34" charset="-122"/>
                <a:cs typeface="Cambria" pitchFamily="34" charset="-120"/>
              </a:rPr>
              <a:t> − r̄</a:t>
            </a:r>
            <a:endParaRPr lang="en-US" sz="1300" dirty="0"/>
          </a:p>
        </p:txBody>
      </p:sp>
      <p:sp>
        <p:nvSpPr>
          <p:cNvPr id="14" name="Text 12"/>
          <p:cNvSpPr txBox="1"/>
          <p:nvPr/>
        </p:nvSpPr>
        <p:spPr>
          <a:xfrm>
            <a:off x="914400" y="2871216"/>
            <a:ext cx="4206240" cy="274320"/>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keeps only the random part; the bias correction handles the systematic part</a:t>
            </a:r>
            <a:endParaRPr lang="en-US" sz="1000" dirty="0"/>
          </a:p>
        </p:txBody>
      </p:sp>
      <p:sp>
        <p:nvSpPr>
          <p:cNvPr id="15" name="Shape 13"/>
          <p:cNvSpPr/>
          <p:nvPr/>
        </p:nvSpPr>
        <p:spPr>
          <a:xfrm>
            <a:off x="457200" y="3264408"/>
            <a:ext cx="329184" cy="329184"/>
          </a:xfrm>
          <a:prstGeom prst="ellipse">
            <a:avLst/>
          </a:prstGeom>
          <a:solidFill>
            <a:srgbClr val="1B7F72"/>
          </a:solidFill>
          <a:ln w="12700">
            <a:solidFill>
              <a:srgbClr val="1B7F72"/>
            </a:solidFill>
            <a:prstDash val="solid"/>
          </a:ln>
        </p:spPr>
      </p:sp>
      <p:sp>
        <p:nvSpPr>
          <p:cNvPr id="16" name="Text 14"/>
          <p:cNvSpPr txBox="1"/>
          <p:nvPr/>
        </p:nvSpPr>
        <p:spPr>
          <a:xfrm>
            <a:off x="457200" y="3264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914400" y="3246120"/>
            <a:ext cx="4206240" cy="274320"/>
          </a:xfrm>
          <a:prstGeom prst="rect">
            <a:avLst/>
          </a:prstGeom>
          <a:noFill/>
          <a:ln/>
        </p:spPr>
        <p:txBody>
          <a:bodyPr wrap="square" lIns="0" tIns="0" rIns="0" bIns="0" rtlCol="0" anchor="ctr"/>
          <a:lstStyle/>
          <a:p>
            <a:pPr indent="0" marL="0">
              <a:buNone/>
            </a:pPr>
            <a:r>
              <a:rPr lang="en-US" sz="1300" b="1" dirty="0">
                <a:solidFill>
                  <a:srgbClr val="1D2B36"/>
                </a:solidFill>
                <a:latin typeface="Calibri" pitchFamily="34" charset="0"/>
                <a:ea typeface="Calibri" pitchFamily="34" charset="-122"/>
                <a:cs typeface="Calibri" pitchFamily="34" charset="-120"/>
              </a:rPr>
              <a:t>Each step, each member adds one map</a:t>
            </a:r>
            <a:endParaRPr lang="en-US" sz="1300" dirty="0"/>
          </a:p>
        </p:txBody>
      </p:sp>
      <p:sp>
        <p:nvSpPr>
          <p:cNvPr id="18" name="Text 16"/>
          <p:cNvSpPr txBox="1"/>
          <p:nvPr/>
        </p:nvSpPr>
        <p:spPr>
          <a:xfrm>
            <a:off x="914400" y="3547872"/>
            <a:ext cx="4206240" cy="274320"/>
          </a:xfrm>
          <a:prstGeom prst="rect">
            <a:avLst/>
          </a:prstGeom>
          <a:noFill/>
          <a:ln/>
        </p:spPr>
        <p:txBody>
          <a:bodyPr wrap="square" lIns="0" tIns="0" rIns="0" bIns="0" rtlCol="0" anchor="ctr"/>
          <a:lstStyle/>
          <a:p>
            <a:pPr indent="0" marL="0">
              <a:buNone/>
            </a:pPr>
            <a:r>
              <a:rPr lang="en-US" sz="1300" i="1" dirty="0">
                <a:solidFill>
                  <a:srgbClr val="1B7F72"/>
                </a:solidFill>
                <a:latin typeface="Cambria" pitchFamily="34" charset="0"/>
                <a:ea typeface="Cambria" pitchFamily="34" charset="-122"/>
                <a:cs typeface="Cambria" pitchFamily="34" charset="-120"/>
              </a:rPr>
              <a:t>drawn at random from the bank</a:t>
            </a:r>
            <a:endParaRPr lang="en-US" sz="1300" dirty="0"/>
          </a:p>
        </p:txBody>
      </p:sp>
      <p:sp>
        <p:nvSpPr>
          <p:cNvPr id="19" name="Shape 17"/>
          <p:cNvSpPr/>
          <p:nvPr/>
        </p:nvSpPr>
        <p:spPr>
          <a:xfrm>
            <a:off x="5394960" y="1325880"/>
            <a:ext cx="3291840" cy="1234440"/>
          </a:xfrm>
          <a:prstGeom prst="roundRect">
            <a:avLst>
              <a:gd name="adj" fmla="val 5926"/>
            </a:avLst>
          </a:prstGeom>
          <a:solidFill>
            <a:srgbClr val="F1F4F6"/>
          </a:solidFill>
          <a:ln w="12700">
            <a:solidFill>
              <a:srgbClr val="F1F4F6"/>
            </a:solidFill>
            <a:prstDash val="solid"/>
          </a:ln>
        </p:spPr>
      </p:sp>
      <p:sp>
        <p:nvSpPr>
          <p:cNvPr id="20" name="Text 18"/>
          <p:cNvSpPr txBox="1"/>
          <p:nvPr/>
        </p:nvSpPr>
        <p:spPr>
          <a:xfrm>
            <a:off x="5532120" y="1444752"/>
            <a:ext cx="3017520" cy="1371600"/>
          </a:xfrm>
          <a:prstGeom prst="rect">
            <a:avLst/>
          </a:prstGeom>
          <a:noFill/>
          <a:ln/>
        </p:spPr>
        <p:txBody>
          <a:bodyPr wrap="square" lIns="0" tIns="0" rIns="0" bIns="0" rtlCol="0" anchor="t"/>
          <a:lstStyle/>
          <a:p>
            <a:pPr indent="0" marL="0">
              <a:buNone/>
            </a:pPr>
            <a:r>
              <a:rPr lang="en-US" sz="1200" dirty="0">
                <a:solidFill>
                  <a:srgbClr val="1D2B36"/>
                </a:solidFill>
                <a:latin typeface="Calibri" pitchFamily="34" charset="0"/>
                <a:ea typeface="Calibri" pitchFamily="34" charset="-122"/>
                <a:cs typeface="Calibri" pitchFamily="34" charset="-120"/>
              </a:rPr>
              <a:t>A real error map is large on the walkways, zero at the walls, and density and velocity err together. The ensemble spread inherits that shape.</a:t>
            </a:r>
            <a:endParaRPr lang="en-US" sz="1200" dirty="0"/>
          </a:p>
        </p:txBody>
      </p:sp>
      <p:sp>
        <p:nvSpPr>
          <p:cNvPr id="21" name="Shape 19"/>
          <p:cNvSpPr/>
          <p:nvPr/>
        </p:nvSpPr>
        <p:spPr>
          <a:xfrm>
            <a:off x="5394960" y="2697480"/>
            <a:ext cx="3291840" cy="1005840"/>
          </a:xfrm>
          <a:prstGeom prst="roundRect">
            <a:avLst>
              <a:gd name="adj" fmla="val 7273"/>
            </a:avLst>
          </a:prstGeom>
          <a:solidFill>
            <a:srgbClr val="E3F1EE"/>
          </a:solidFill>
          <a:ln w="12700">
            <a:solidFill>
              <a:srgbClr val="E3F1EE"/>
            </a:solidFill>
            <a:prstDash val="solid"/>
          </a:ln>
        </p:spPr>
      </p:sp>
      <p:sp>
        <p:nvSpPr>
          <p:cNvPr id="22" name="Text 20"/>
          <p:cNvSpPr txBox="1"/>
          <p:nvPr/>
        </p:nvSpPr>
        <p:spPr>
          <a:xfrm>
            <a:off x="5440680" y="2752344"/>
            <a:ext cx="3200400" cy="502920"/>
          </a:xfrm>
          <a:prstGeom prst="rect">
            <a:avLst/>
          </a:prstGeom>
          <a:noFill/>
          <a:ln/>
        </p:spPr>
        <p:txBody>
          <a:bodyPr wrap="square" lIns="0" tIns="0" rIns="0" bIns="0" rtlCol="0" anchor="ctr"/>
          <a:lstStyle/>
          <a:p>
            <a:pPr algn="ctr" indent="0" marL="0">
              <a:buNone/>
            </a:pPr>
            <a:r>
              <a:rPr lang="en-US" sz="2400" b="1" dirty="0">
                <a:solidFill>
                  <a:srgbClr val="1B7F72"/>
                </a:solidFill>
                <a:latin typeface="Cambria" pitchFamily="34" charset="0"/>
                <a:ea typeface="Cambria" pitchFamily="34" charset="-122"/>
                <a:cs typeface="Cambria" pitchFamily="34" charset="-120"/>
              </a:rPr>
              <a:t>−17.6%</a:t>
            </a:r>
            <a:endParaRPr lang="en-US" sz="2400" dirty="0"/>
          </a:p>
        </p:txBody>
      </p:sp>
      <p:sp>
        <p:nvSpPr>
          <p:cNvPr id="23" name="Text 21"/>
          <p:cNvSpPr txBox="1"/>
          <p:nvPr/>
        </p:nvSpPr>
        <p:spPr>
          <a:xfrm>
            <a:off x="5440680" y="3264408"/>
            <a:ext cx="3200400" cy="320040"/>
          </a:xfrm>
          <a:prstGeom prst="rect">
            <a:avLst/>
          </a:prstGeom>
          <a:noFill/>
          <a:ln/>
        </p:spPr>
        <p:txBody>
          <a:bodyPr wrap="square" lIns="0" tIns="0" rIns="0" bIns="0" rtlCol="0" anchor="ctr"/>
          <a:lstStyle/>
          <a:p>
            <a:pPr algn="ctr" indent="0" marL="0">
              <a:buNone/>
            </a:pPr>
            <a:r>
              <a:rPr lang="en-US" sz="1050" dirty="0">
                <a:solidFill>
                  <a:srgbClr val="1D2B36"/>
                </a:solidFill>
                <a:latin typeface="Calibri" pitchFamily="34" charset="0"/>
                <a:ea typeface="Calibri" pitchFamily="34" charset="-122"/>
                <a:cs typeface="Calibri" pitchFamily="34" charset="-120"/>
              </a:rPr>
              <a:t>CRPS vs. Gaussian noise of the same size</a:t>
            </a:r>
            <a:endParaRPr lang="en-US" sz="1050" dirty="0"/>
          </a:p>
        </p:txBody>
      </p:sp>
      <p:sp>
        <p:nvSpPr>
          <p:cNvPr id="24" name="Text 22"/>
          <p:cNvSpPr txBox="1"/>
          <p:nvPr/>
        </p:nvSpPr>
        <p:spPr>
          <a:xfrm>
            <a:off x="457200" y="4754880"/>
            <a:ext cx="7680960" cy="274320"/>
          </a:xfrm>
          <a:prstGeom prst="rect">
            <a:avLst/>
          </a:prstGeom>
          <a:noFill/>
          <a:ln/>
        </p:spPr>
        <p:txBody>
          <a:bodyPr wrap="square" lIns="0" tIns="0" rIns="0" bIns="0" rtlCol="0" anchor="t"/>
          <a:lstStyle/>
          <a:p>
            <a:pPr indent="0" marL="0">
              <a:buNone/>
            </a:pPr>
            <a:r>
              <a:rPr lang="en-US" sz="850" i="1" dirty="0">
                <a:solidFill>
                  <a:srgbClr val="5B6773"/>
                </a:solidFill>
                <a:latin typeface="Calibri" pitchFamily="34" charset="0"/>
                <a:ea typeface="Calibri" pitchFamily="34" charset="-122"/>
                <a:cs typeface="Calibri" pitchFamily="34" charset="-120"/>
              </a:rPr>
              <a:t>Seven test days; better on all seven.</a:t>
            </a:r>
            <a:endParaRPr lang="en-US" sz="850" dirty="0"/>
          </a:p>
        </p:txBody>
      </p:sp>
      <p:sp>
        <p:nvSpPr>
          <p:cNvPr id="25" name="Text 23"/>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74320"/>
            <a:ext cx="406908" cy="246888"/>
          </a:xfrm>
          <a:prstGeom prst="roundRect">
            <a:avLst>
              <a:gd name="adj" fmla="val 48148"/>
            </a:avLst>
          </a:prstGeom>
          <a:solidFill>
            <a:srgbClr val="1B7F72"/>
          </a:solidFill>
          <a:ln w="12700">
            <a:solidFill>
              <a:srgbClr val="1B7F72"/>
            </a:solidFill>
            <a:prstDash val="solid"/>
          </a:ln>
        </p:spPr>
      </p:sp>
      <p:sp>
        <p:nvSpPr>
          <p:cNvPr id="3" name="Text 1"/>
          <p:cNvSpPr txBox="1"/>
          <p:nvPr/>
        </p:nvSpPr>
        <p:spPr>
          <a:xfrm>
            <a:off x="457200" y="274320"/>
            <a:ext cx="406908"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FIX</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The noise step, for each member i</a:t>
            </a:r>
            <a:endParaRPr lang="en-US" sz="2200" dirty="0"/>
          </a:p>
        </p:txBody>
      </p:sp>
      <p:sp>
        <p:nvSpPr>
          <p:cNvPr id="5" name="Shape 3"/>
          <p:cNvSpPr/>
          <p:nvPr/>
        </p:nvSpPr>
        <p:spPr>
          <a:xfrm>
            <a:off x="457200" y="1325880"/>
            <a:ext cx="4160520" cy="3246120"/>
          </a:xfrm>
          <a:prstGeom prst="roundRect">
            <a:avLst>
              <a:gd name="adj" fmla="val 2254"/>
            </a:avLst>
          </a:prstGeom>
          <a:solidFill>
            <a:srgbClr val="1F2A33"/>
          </a:solidFill>
          <a:ln w="12700">
            <a:solidFill>
              <a:srgbClr val="1F2A33"/>
            </a:solidFill>
            <a:prstDash val="solid"/>
          </a:ln>
        </p:spPr>
      </p:sp>
      <p:sp>
        <p:nvSpPr>
          <p:cNvPr id="6" name="Text 4"/>
          <p:cNvSpPr txBox="1"/>
          <p:nvPr/>
        </p:nvSpPr>
        <p:spPr>
          <a:xfrm>
            <a:off x="621792" y="1517904"/>
            <a:ext cx="274320" cy="329184"/>
          </a:xfrm>
          <a:prstGeom prst="rect">
            <a:avLst/>
          </a:prstGeom>
          <a:noFill/>
          <a:ln/>
        </p:spPr>
        <p:txBody>
          <a:bodyPr wrap="square" lIns="0" tIns="0" rIns="0" bIns="0" rtlCol="0" anchor="ctr"/>
          <a:lstStyle/>
          <a:p>
            <a:pPr indent="0" marL="0">
              <a:buNone/>
            </a:pPr>
            <a:r>
              <a:rPr lang="en-US" sz="1100" b="1" dirty="0">
                <a:solidFill>
                  <a:srgbClr val="7FB8AE"/>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14400" y="1517904"/>
            <a:ext cx="3611880" cy="329184"/>
          </a:xfrm>
          <a:prstGeom prst="rect">
            <a:avLst/>
          </a:prstGeom>
          <a:noFill/>
          <a:ln/>
        </p:spPr>
        <p:txBody>
          <a:bodyPr wrap="square" lIns="0" tIns="0" rIns="0" bIns="0" rtlCol="0" anchor="ctr"/>
          <a:lstStyle/>
          <a:p>
            <a:pPr indent="0" marL="0">
              <a:buNone/>
            </a:pPr>
            <a:r>
              <a:rPr lang="en-US" sz="1400" i="1" dirty="0">
                <a:solidFill>
                  <a:srgbClr val="E6EDF3"/>
                </a:solidFill>
                <a:latin typeface="Cambria" pitchFamily="34" charset="0"/>
                <a:ea typeface="Cambria" pitchFamily="34" charset="-122"/>
                <a:cs typeface="Cambria" pitchFamily="34" charset="-120"/>
              </a:rPr>
              <a:t>ε</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  ~  bank</a:t>
            </a:r>
            <a:endParaRPr lang="en-US" sz="1400" dirty="0"/>
          </a:p>
        </p:txBody>
      </p:sp>
      <p:sp>
        <p:nvSpPr>
          <p:cNvPr id="8" name="Text 6"/>
          <p:cNvSpPr txBox="1"/>
          <p:nvPr/>
        </p:nvSpPr>
        <p:spPr>
          <a:xfrm>
            <a:off x="621792" y="2121408"/>
            <a:ext cx="274320" cy="329184"/>
          </a:xfrm>
          <a:prstGeom prst="rect">
            <a:avLst/>
          </a:prstGeom>
          <a:noFill/>
          <a:ln/>
        </p:spPr>
        <p:txBody>
          <a:bodyPr wrap="square" lIns="0" tIns="0" rIns="0" bIns="0" rtlCol="0" anchor="ctr"/>
          <a:lstStyle/>
          <a:p>
            <a:pPr indent="0" marL="0">
              <a:buNone/>
            </a:pPr>
            <a:r>
              <a:rPr lang="en-US" sz="1100" b="1" dirty="0">
                <a:solidFill>
                  <a:srgbClr val="7FB8A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14400" y="2121408"/>
            <a:ext cx="3611880" cy="329184"/>
          </a:xfrm>
          <a:prstGeom prst="rect">
            <a:avLst/>
          </a:prstGeom>
          <a:noFill/>
          <a:ln/>
        </p:spPr>
        <p:txBody>
          <a:bodyPr wrap="square" lIns="0" tIns="0" rIns="0" bIns="0" rtlCol="0" anchor="ctr"/>
          <a:lstStyle/>
          <a:p>
            <a:pPr indent="0" marL="0">
              <a:buNone/>
            </a:pPr>
            <a:r>
              <a:rPr lang="en-US" sz="1400" i="1" dirty="0">
                <a:solidFill>
                  <a:srgbClr val="E6EDF3"/>
                </a:solidFill>
                <a:latin typeface="Cambria" pitchFamily="34" charset="0"/>
                <a:ea typeface="Cambria" pitchFamily="34" charset="-122"/>
                <a:cs typeface="Cambria" pitchFamily="34" charset="-120"/>
              </a:rPr>
              <a:t>η</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(t) = ρ · η</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(t−1) + √(1−ρ²) · ε</a:t>
            </a:r>
            <a:pPr indent="0" marL="0">
              <a:buNone/>
            </a:pPr>
            <a:r>
              <a:rPr lang="en-US" sz="1400" i="1" baseline="-40000" dirty="0">
                <a:solidFill>
                  <a:srgbClr val="E6EDF3"/>
                </a:solidFill>
                <a:latin typeface="Cambria" pitchFamily="34" charset="0"/>
                <a:ea typeface="Cambria" pitchFamily="34" charset="-122"/>
                <a:cs typeface="Cambria" pitchFamily="34" charset="-120"/>
              </a:rPr>
              <a:t>i</a:t>
            </a:r>
            <a:endParaRPr lang="en-US" sz="1400" dirty="0"/>
          </a:p>
        </p:txBody>
      </p:sp>
      <p:sp>
        <p:nvSpPr>
          <p:cNvPr id="10" name="Text 8"/>
          <p:cNvSpPr txBox="1"/>
          <p:nvPr/>
        </p:nvSpPr>
        <p:spPr>
          <a:xfrm>
            <a:off x="621792" y="2724912"/>
            <a:ext cx="274320" cy="329184"/>
          </a:xfrm>
          <a:prstGeom prst="rect">
            <a:avLst/>
          </a:prstGeom>
          <a:noFill/>
          <a:ln/>
        </p:spPr>
        <p:txBody>
          <a:bodyPr wrap="square" lIns="0" tIns="0" rIns="0" bIns="0" rtlCol="0" anchor="ctr"/>
          <a:lstStyle/>
          <a:p>
            <a:pPr indent="0" marL="0">
              <a:buNone/>
            </a:pPr>
            <a:r>
              <a:rPr lang="en-US" sz="1100" b="1" dirty="0">
                <a:solidFill>
                  <a:srgbClr val="7FB8AE"/>
                </a:solidFill>
                <a:latin typeface="Calibri" pitchFamily="34" charset="0"/>
                <a:ea typeface="Calibri" pitchFamily="34" charset="-122"/>
                <a:cs typeface="Calibri" pitchFamily="34" charset="-120"/>
              </a:rPr>
              <a:t>3</a:t>
            </a:r>
            <a:endParaRPr lang="en-US" sz="1100" dirty="0"/>
          </a:p>
        </p:txBody>
      </p:sp>
      <p:sp>
        <p:nvSpPr>
          <p:cNvPr id="11" name="Text 9"/>
          <p:cNvSpPr txBox="1"/>
          <p:nvPr/>
        </p:nvSpPr>
        <p:spPr>
          <a:xfrm>
            <a:off x="914400" y="2724912"/>
            <a:ext cx="3611880" cy="329184"/>
          </a:xfrm>
          <a:prstGeom prst="rect">
            <a:avLst/>
          </a:prstGeom>
          <a:noFill/>
          <a:ln/>
        </p:spPr>
        <p:txBody>
          <a:bodyPr wrap="square" lIns="0" tIns="0" rIns="0" bIns="0" rtlCol="0" anchor="ctr"/>
          <a:lstStyle/>
          <a:p>
            <a:pPr indent="0" marL="0">
              <a:buNone/>
            </a:pPr>
            <a:r>
              <a:rPr lang="en-US" sz="1400" i="1" dirty="0">
                <a:solidFill>
                  <a:srgbClr val="E6EDF3"/>
                </a:solidFill>
                <a:latin typeface="Cambria" pitchFamily="34" charset="0"/>
                <a:ea typeface="Cambria" pitchFamily="34" charset="-122"/>
                <a:cs typeface="Cambria" pitchFamily="34" charset="-120"/>
              </a:rPr>
              <a:t>q</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 = 1.5 · b ⊙ η</a:t>
            </a:r>
            <a:pPr indent="0" marL="0">
              <a:buNone/>
            </a:pPr>
            <a:r>
              <a:rPr lang="en-US" sz="1400" i="1" baseline="-40000" dirty="0">
                <a:solidFill>
                  <a:srgbClr val="E6EDF3"/>
                </a:solidFill>
                <a:latin typeface="Cambria" pitchFamily="34" charset="0"/>
                <a:ea typeface="Cambria" pitchFamily="34" charset="-122"/>
                <a:cs typeface="Cambria" pitchFamily="34" charset="-120"/>
              </a:rPr>
              <a:t>i</a:t>
            </a:r>
            <a:endParaRPr lang="en-US" sz="1400" dirty="0"/>
          </a:p>
        </p:txBody>
      </p:sp>
      <p:sp>
        <p:nvSpPr>
          <p:cNvPr id="12" name="Text 10"/>
          <p:cNvSpPr txBox="1"/>
          <p:nvPr/>
        </p:nvSpPr>
        <p:spPr>
          <a:xfrm>
            <a:off x="621792" y="3328416"/>
            <a:ext cx="274320" cy="329184"/>
          </a:xfrm>
          <a:prstGeom prst="rect">
            <a:avLst/>
          </a:prstGeom>
          <a:noFill/>
          <a:ln/>
        </p:spPr>
        <p:txBody>
          <a:bodyPr wrap="square" lIns="0" tIns="0" rIns="0" bIns="0" rtlCol="0" anchor="ctr"/>
          <a:lstStyle/>
          <a:p>
            <a:pPr indent="0" marL="0">
              <a:buNone/>
            </a:pPr>
            <a:r>
              <a:rPr lang="en-US" sz="1100" b="1" dirty="0">
                <a:solidFill>
                  <a:srgbClr val="7FB8AE"/>
                </a:solidFill>
                <a:latin typeface="Calibri" pitchFamily="34" charset="0"/>
                <a:ea typeface="Calibri" pitchFamily="34" charset="-122"/>
                <a:cs typeface="Calibri" pitchFamily="34" charset="-120"/>
              </a:rPr>
              <a:t>4</a:t>
            </a:r>
            <a:endParaRPr lang="en-US" sz="1100" dirty="0"/>
          </a:p>
        </p:txBody>
      </p:sp>
      <p:sp>
        <p:nvSpPr>
          <p:cNvPr id="13" name="Text 11"/>
          <p:cNvSpPr txBox="1"/>
          <p:nvPr/>
        </p:nvSpPr>
        <p:spPr>
          <a:xfrm>
            <a:off x="914400" y="3328416"/>
            <a:ext cx="3611880" cy="329184"/>
          </a:xfrm>
          <a:prstGeom prst="rect">
            <a:avLst/>
          </a:prstGeom>
          <a:noFill/>
          <a:ln/>
        </p:spPr>
        <p:txBody>
          <a:bodyPr wrap="square" lIns="0" tIns="0" rIns="0" bIns="0" rtlCol="0" anchor="ctr"/>
          <a:lstStyle/>
          <a:p>
            <a:pPr indent="0" marL="0">
              <a:buNone/>
            </a:pPr>
            <a:r>
              <a:rPr lang="en-US" sz="1400" i="1" dirty="0">
                <a:solidFill>
                  <a:srgbClr val="E6EDF3"/>
                </a:solidFill>
                <a:latin typeface="Cambria" pitchFamily="34" charset="0"/>
                <a:ea typeface="Cambria" pitchFamily="34" charset="-122"/>
                <a:cs typeface="Cambria" pitchFamily="34" charset="-120"/>
              </a:rPr>
              <a:t>q</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 ← q</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 − mean</a:t>
            </a:r>
            <a:pPr indent="0" marL="0">
              <a:buNone/>
            </a:pPr>
            <a:r>
              <a:rPr lang="en-US" sz="1400" i="1" baseline="-40000" dirty="0">
                <a:solidFill>
                  <a:srgbClr val="E6EDF3"/>
                </a:solidFill>
                <a:latin typeface="Cambria" pitchFamily="34" charset="0"/>
                <a:ea typeface="Cambria" pitchFamily="34" charset="-122"/>
                <a:cs typeface="Cambria" pitchFamily="34" charset="-120"/>
              </a:rPr>
              <a:t>j</a:t>
            </a:r>
            <a:pPr indent="0" marL="0">
              <a:buNone/>
            </a:pPr>
            <a:r>
              <a:rPr lang="en-US" sz="1400" i="1" dirty="0">
                <a:solidFill>
                  <a:srgbClr val="E6EDF3"/>
                </a:solidFill>
                <a:latin typeface="Cambria" pitchFamily="34" charset="0"/>
                <a:ea typeface="Cambria" pitchFamily="34" charset="-122"/>
                <a:cs typeface="Cambria" pitchFamily="34" charset="-120"/>
              </a:rPr>
              <a:t> q</a:t>
            </a:r>
            <a:pPr indent="0" marL="0">
              <a:buNone/>
            </a:pPr>
            <a:r>
              <a:rPr lang="en-US" sz="1400" i="1" baseline="-40000" dirty="0">
                <a:solidFill>
                  <a:srgbClr val="E6EDF3"/>
                </a:solidFill>
                <a:latin typeface="Cambria" pitchFamily="34" charset="0"/>
                <a:ea typeface="Cambria" pitchFamily="34" charset="-122"/>
                <a:cs typeface="Cambria" pitchFamily="34" charset="-120"/>
              </a:rPr>
              <a:t>j</a:t>
            </a:r>
            <a:endParaRPr lang="en-US" sz="1400" dirty="0"/>
          </a:p>
        </p:txBody>
      </p:sp>
      <p:sp>
        <p:nvSpPr>
          <p:cNvPr id="14" name="Text 12"/>
          <p:cNvSpPr txBox="1"/>
          <p:nvPr/>
        </p:nvSpPr>
        <p:spPr>
          <a:xfrm>
            <a:off x="621792" y="3931920"/>
            <a:ext cx="274320" cy="329184"/>
          </a:xfrm>
          <a:prstGeom prst="rect">
            <a:avLst/>
          </a:prstGeom>
          <a:noFill/>
          <a:ln/>
        </p:spPr>
        <p:txBody>
          <a:bodyPr wrap="square" lIns="0" tIns="0" rIns="0" bIns="0" rtlCol="0" anchor="ctr"/>
          <a:lstStyle/>
          <a:p>
            <a:pPr indent="0" marL="0">
              <a:buNone/>
            </a:pPr>
            <a:r>
              <a:rPr lang="en-US" sz="1100" b="1" dirty="0">
                <a:solidFill>
                  <a:srgbClr val="7FB8AE"/>
                </a:solidFill>
                <a:latin typeface="Calibri" pitchFamily="34" charset="0"/>
                <a:ea typeface="Calibri" pitchFamily="34" charset="-122"/>
                <a:cs typeface="Calibri" pitchFamily="34" charset="-120"/>
              </a:rPr>
              <a:t>5</a:t>
            </a:r>
            <a:endParaRPr lang="en-US" sz="1100" dirty="0"/>
          </a:p>
        </p:txBody>
      </p:sp>
      <p:sp>
        <p:nvSpPr>
          <p:cNvPr id="15" name="Text 13"/>
          <p:cNvSpPr txBox="1"/>
          <p:nvPr/>
        </p:nvSpPr>
        <p:spPr>
          <a:xfrm>
            <a:off x="914400" y="3931920"/>
            <a:ext cx="3611880" cy="329184"/>
          </a:xfrm>
          <a:prstGeom prst="rect">
            <a:avLst/>
          </a:prstGeom>
          <a:noFill/>
          <a:ln/>
        </p:spPr>
        <p:txBody>
          <a:bodyPr wrap="square" lIns="0" tIns="0" rIns="0" bIns="0" rtlCol="0" anchor="ctr"/>
          <a:lstStyle/>
          <a:p>
            <a:pPr indent="0" marL="0">
              <a:buNone/>
            </a:pPr>
            <a:r>
              <a:rPr lang="en-US" sz="1400" i="1" dirty="0">
                <a:solidFill>
                  <a:srgbClr val="E6EDF3"/>
                </a:solidFill>
                <a:latin typeface="Cambria" pitchFamily="34" charset="0"/>
                <a:ea typeface="Cambria" pitchFamily="34" charset="-122"/>
                <a:cs typeface="Cambria" pitchFamily="34" charset="-120"/>
              </a:rPr>
              <a:t>x</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 ← f(x</a:t>
            </a:r>
            <a:pPr indent="0" marL="0">
              <a:buNone/>
            </a:pPr>
            <a:r>
              <a:rPr lang="en-US" sz="1400" i="1" baseline="-40000" dirty="0">
                <a:solidFill>
                  <a:srgbClr val="E6EDF3"/>
                </a:solidFill>
                <a:latin typeface="Cambria" pitchFamily="34" charset="0"/>
                <a:ea typeface="Cambria" pitchFamily="34" charset="-122"/>
                <a:cs typeface="Cambria" pitchFamily="34" charset="-120"/>
              </a:rPr>
              <a:t>i</a:t>
            </a:r>
            <a:pPr indent="0" marL="0">
              <a:buNone/>
            </a:pPr>
            <a:r>
              <a:rPr lang="en-US" sz="1400" i="1" dirty="0">
                <a:solidFill>
                  <a:srgbClr val="E6EDF3"/>
                </a:solidFill>
                <a:latin typeface="Cambria" pitchFamily="34" charset="0"/>
                <a:ea typeface="Cambria" pitchFamily="34" charset="-122"/>
                <a:cs typeface="Cambria" pitchFamily="34" charset="-120"/>
              </a:rPr>
              <a:t>) − bias + q</a:t>
            </a:r>
            <a:pPr indent="0" marL="0">
              <a:buNone/>
            </a:pPr>
            <a:r>
              <a:rPr lang="en-US" sz="1400" i="1" baseline="-40000" dirty="0">
                <a:solidFill>
                  <a:srgbClr val="E6EDF3"/>
                </a:solidFill>
                <a:latin typeface="Cambria" pitchFamily="34" charset="0"/>
                <a:ea typeface="Cambria" pitchFamily="34" charset="-122"/>
                <a:cs typeface="Cambria" pitchFamily="34" charset="-120"/>
              </a:rPr>
              <a:t>i</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840480" cy="914400"/>
        </p:xfrm>
        <a:graphic>
          <a:graphicData uri="http://schemas.openxmlformats.org/drawingml/2006/table">
            <a:tbl>
              <a:tblPr/>
              <a:tblGrid>
                <a:gridCol w="777240"/>
                <a:gridCol w="3063240"/>
              </a:tblGrid>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ε</a:t>
                      </a:r>
                      <a:pPr indent="0" marL="0">
                        <a:buNone/>
                      </a:pPr>
                      <a:r>
                        <a:rPr lang="en-US" sz="1150" b="1" i="1" baseline="-40000" dirty="0">
                          <a:solidFill>
                            <a:srgbClr val="1B7F72"/>
                          </a:solidFill>
                          <a:latin typeface="Cambria" pitchFamily="34" charset="0"/>
                          <a:ea typeface="Cambria" pitchFamily="34" charset="-122"/>
                          <a:cs typeface="Cambria" pitchFamily="34" charset="-120"/>
                        </a:rPr>
                        <a:t>i</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a random error map from the bank</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η</a:t>
                      </a:r>
                      <a:pPr indent="0" marL="0">
                        <a:buNone/>
                      </a:pPr>
                      <a:r>
                        <a:rPr lang="en-US" sz="1150" b="1" i="1" baseline="-40000" dirty="0">
                          <a:solidFill>
                            <a:srgbClr val="1B7F72"/>
                          </a:solidFill>
                          <a:latin typeface="Cambria" pitchFamily="34" charset="0"/>
                          <a:ea typeface="Cambria" pitchFamily="34" charset="-122"/>
                          <a:cs typeface="Cambria" pitchFamily="34" charset="-120"/>
                        </a:rPr>
                        <a:t>i</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member i's noise, with memory over time</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ρ = 0.5</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share of last frame's noise that is kept</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√(1−ρ²)</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keeps the noise size unchanged</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q</a:t>
                      </a:r>
                      <a:pPr indent="0" marL="0">
                        <a:buNone/>
                      </a:pPr>
                      <a:r>
                        <a:rPr lang="en-US" sz="1150" b="1" i="1" baseline="-40000" dirty="0">
                          <a:solidFill>
                            <a:srgbClr val="1B7F72"/>
                          </a:solidFill>
                          <a:latin typeface="Cambria" pitchFamily="34" charset="0"/>
                          <a:ea typeface="Cambria" pitchFamily="34" charset="-122"/>
                          <a:cs typeface="Cambria" pitchFamily="34" charset="-120"/>
                        </a:rPr>
                        <a:t>i</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the noise actually added to member i</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1.5</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overall size factor</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b ⊙</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per-cell factor: 1 where a robot sees; on unseen cells 1, 1.25, 1.4, 0.93 for density, vx, vy, variance</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mean</a:t>
                      </a:r>
                      <a:pPr indent="0" marL="0">
                        <a:buNone/>
                      </a:pPr>
                      <a:r>
                        <a:rPr lang="en-US" sz="1150" b="1" i="1" baseline="-40000" dirty="0">
                          <a:solidFill>
                            <a:srgbClr val="1B7F72"/>
                          </a:solidFill>
                          <a:latin typeface="Cambria" pitchFamily="34" charset="0"/>
                          <a:ea typeface="Cambria" pitchFamily="34" charset="-122"/>
                          <a:cs typeface="Cambria" pitchFamily="34" charset="-120"/>
                        </a:rPr>
                        <a:t>j</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average over the 100 members, so the noise spreads them without shifting them</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r h="0">
                <a:tc>
                  <a:txBody>
                    <a:bodyPr/>
                    <a:lstStyle/>
                    <a:p>
                      <a:pPr indent="0" marL="0">
                        <a:buNone/>
                      </a:pPr>
                      <a:r>
                        <a:rPr lang="en-US" sz="1150" b="1" i="1" dirty="0">
                          <a:solidFill>
                            <a:srgbClr val="1B7F72"/>
                          </a:solidFill>
                          <a:latin typeface="Cambria" pitchFamily="34" charset="0"/>
                          <a:ea typeface="Cambria" pitchFamily="34" charset="-122"/>
                          <a:cs typeface="Cambria" pitchFamily="34" charset="-120"/>
                        </a:rPr>
                        <a:t>f, bias</a:t>
                      </a:r>
                      <a:endParaRPr lang="en-US" sz="1200" dirty="0"/>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c>
                  <a:txBody>
                    <a:bodyPr/>
                    <a:lstStyle/>
                    <a:p>
                      <a:pPr indent="0" marL="0">
                        <a:buNone/>
                      </a:pPr>
                      <a:r>
                        <a:rPr lang="en-US" sz="1000" dirty="0">
                          <a:solidFill>
                            <a:srgbClr val="1D2B36"/>
                          </a:solidFill>
                          <a:latin typeface="Calibri" pitchFamily="34" charset="0"/>
                          <a:ea typeface="Calibri" pitchFamily="34" charset="-122"/>
                          <a:cs typeface="Calibri" pitchFamily="34" charset="-120"/>
                        </a:rPr>
                        <a:t>forecast model; learned systematic error</a:t>
                      </a:r>
                      <a:endParaRPr lang="en-US" sz="1000" dirty="0">
                        <a:latin typeface="Calibri" charset="0"/>
                        <a:ea typeface="Calibri" charset="0"/>
                        <a:cs typeface="Calibri" charset="0"/>
                      </a:endParaRPr>
                    </a:p>
                  </a:txBody>
                  <a:tcPr marL="36576" marR="36576" marT="36576" marB="36576"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tcPr>
                </a:tc>
              </a:tr>
            </a:tbl>
          </a:graphicData>
        </a:graphic>
      </p:graphicFrame>
      <p:sp>
        <p:nvSpPr>
          <p:cNvPr id="17" name="Text 14"/>
          <p:cNvSpPr txBox="1"/>
          <p:nvPr/>
        </p:nvSpPr>
        <p:spPr>
          <a:xfrm>
            <a:off x="457200" y="4754880"/>
            <a:ext cx="7680960" cy="274320"/>
          </a:xfrm>
          <a:prstGeom prst="rect">
            <a:avLst/>
          </a:prstGeom>
          <a:noFill/>
          <a:ln/>
        </p:spPr>
        <p:txBody>
          <a:bodyPr wrap="square" lIns="0" tIns="0" rIns="0" bIns="0" rtlCol="0" anchor="t"/>
          <a:lstStyle/>
          <a:p>
            <a:pPr indent="0" marL="0">
              <a:buNone/>
            </a:pPr>
            <a:r>
              <a:rPr lang="en-US" sz="850" i="1" dirty="0">
                <a:solidFill>
                  <a:srgbClr val="5B6773"/>
                </a:solidFill>
                <a:latin typeface="Calibri" pitchFamily="34" charset="0"/>
                <a:ea typeface="Calibri" pitchFamily="34" charset="-122"/>
                <a:cs typeface="Calibri" pitchFamily="34" charset="-120"/>
              </a:rPr>
              <a:t>Bank used at the model's own measured error size. ρ, 1.5 and b chosen on validation days, checked once on test days.</a:t>
            </a:r>
            <a:endParaRPr lang="en-US" sz="850" dirty="0"/>
          </a:p>
        </p:txBody>
      </p:sp>
      <p:sp>
        <p:nvSpPr>
          <p:cNvPr id="18" name="Text 15"/>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74320"/>
            <a:ext cx="754380" cy="246888"/>
          </a:xfrm>
          <a:prstGeom prst="roundRect">
            <a:avLst>
              <a:gd name="adj" fmla="val 48148"/>
            </a:avLst>
          </a:prstGeom>
          <a:solidFill>
            <a:srgbClr val="2E5A87"/>
          </a:solidFill>
          <a:ln w="12700">
            <a:solidFill>
              <a:srgbClr val="2E5A87"/>
            </a:solidFill>
            <a:prstDash val="solid"/>
          </a:ln>
        </p:spPr>
      </p:sp>
      <p:sp>
        <p:nvSpPr>
          <p:cNvPr id="3" name="Text 1"/>
          <p:cNvSpPr txBox="1"/>
          <p:nvPr/>
        </p:nvSpPr>
        <p:spPr>
          <a:xfrm>
            <a:off x="457200" y="274320"/>
            <a:ext cx="754380"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What changed from the original filter</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011680"/>
                <a:gridCol w="2834640"/>
                <a:gridCol w="3383280"/>
              </a:tblGrid>
              <a:tr h="411480">
                <a:tc>
                  <a:txBody>
                    <a:bodyPr/>
                    <a:lstStyle/>
                    <a:p>
                      <a:pPr algn="l" indent="0" marL="0">
                        <a:buNone/>
                      </a:pPr>
                      <a:endParaRPr lang="en-US" sz="110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Original</a:t>
                      </a:r>
                      <a:endParaRPr lang="en-US" sz="110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Final</a:t>
                      </a:r>
                      <a:endParaRPr lang="en-US" sz="110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r>
              <a:tr h="411480">
                <a:tc>
                  <a:txBody>
                    <a:bodyPr/>
                    <a:lstStyle/>
                    <a:p>
                      <a:pPr algn="l" indent="0" marL="0">
                        <a:buNone/>
                      </a:pPr>
                      <a:r>
                        <a:rPr lang="en-US" sz="1250" b="1" dirty="0">
                          <a:solidFill>
                            <a:srgbClr val="1D2B36"/>
                          </a:solidFill>
                          <a:latin typeface="Calibri" pitchFamily="34" charset="0"/>
                          <a:ea typeface="Calibri" pitchFamily="34" charset="-122"/>
                          <a:cs typeface="Calibri" pitchFamily="34" charset="-120"/>
                        </a:rPr>
                        <a:t>Forecast model</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B36"/>
                          </a:solidFill>
                          <a:latin typeface="Calibri" pitchFamily="34" charset="0"/>
                          <a:ea typeface="Calibri" pitchFamily="34" charset="-122"/>
                          <a:cs typeface="Calibri" pitchFamily="34" charset="-120"/>
                        </a:rPr>
                        <a:t>original model, fed 1 frame</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7F72"/>
                          </a:solidFill>
                          <a:latin typeface="Calibri" pitchFamily="34" charset="0"/>
                          <a:ea typeface="Calibri" pitchFamily="34" charset="-122"/>
                          <a:cs typeface="Calibri" pitchFamily="34" charset="-120"/>
                        </a:rPr>
                        <a:t>our retrained model, 5 frames</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D2B36"/>
                          </a:solidFill>
                          <a:latin typeface="Calibri" pitchFamily="34" charset="0"/>
                          <a:ea typeface="Calibri" pitchFamily="34" charset="-122"/>
                          <a:cs typeface="Calibri" pitchFamily="34" charset="-120"/>
                        </a:rPr>
                        <a:t>Process noise</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B36"/>
                          </a:solidFill>
                          <a:latin typeface="Calibri" pitchFamily="34" charset="0"/>
                          <a:ea typeface="Calibri" pitchFamily="34" charset="-122"/>
                          <a:cs typeface="Calibri" pitchFamily="34" charset="-120"/>
                        </a:rPr>
                        <a:t>independent per cell, ×0.01</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7F72"/>
                          </a:solidFill>
                          <a:latin typeface="Calibri" pitchFamily="34" charset="0"/>
                          <a:ea typeface="Calibri" pitchFamily="34" charset="-122"/>
                          <a:cs typeface="Calibri" pitchFamily="34" charset="-120"/>
                        </a:rPr>
                        <a:t>real error maps, measured size ×1.5</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11480">
                <a:tc>
                  <a:txBody>
                    <a:bodyPr/>
                    <a:lstStyle/>
                    <a:p>
                      <a:pPr algn="l" indent="0" marL="0">
                        <a:buNone/>
                      </a:pP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7F72"/>
                          </a:solidFill>
                          <a:latin typeface="Calibri" pitchFamily="34" charset="0"/>
                          <a:ea typeface="Calibri" pitchFamily="34" charset="-122"/>
                          <a:cs typeface="Calibri" pitchFamily="34" charset="-120"/>
                        </a:rPr>
                        <a:t>persist over time, more on unobserved cells</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D2B36"/>
                          </a:solidFill>
                          <a:latin typeface="Calibri" pitchFamily="34" charset="0"/>
                          <a:ea typeface="Calibri" pitchFamily="34" charset="-122"/>
                          <a:cs typeface="Calibri" pitchFamily="34" charset="-120"/>
                        </a:rPr>
                        <a:t>Kalman update</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B36"/>
                          </a:solidFill>
                          <a:latin typeface="Calibri" pitchFamily="34" charset="0"/>
                          <a:ea typeface="Calibri" pitchFamily="34" charset="-122"/>
                          <a:cs typeface="Calibri" pitchFamily="34" charset="-120"/>
                        </a:rPr>
                        <a:t>radius 7, inflation 1.02</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B36"/>
                          </a:solidFill>
                          <a:latin typeface="Calibri" pitchFamily="34" charset="0"/>
                          <a:ea typeface="Calibri" pitchFamily="34" charset="-122"/>
                          <a:cs typeface="Calibri" pitchFamily="34" charset="-120"/>
                        </a:rPr>
                        <a:t>same, + cross-channel weights</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D2B36"/>
                          </a:solidFill>
                          <a:latin typeface="Calibri" pitchFamily="34" charset="0"/>
                          <a:ea typeface="Calibri" pitchFamily="34" charset="-122"/>
                          <a:cs typeface="Calibri" pitchFamily="34" charset="-120"/>
                        </a:rPr>
                        <a:t>Bias correction</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B36"/>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B36"/>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marL="73152" marR="73152" marT="73152" marB="73152"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100" i="1" dirty="0">
                <a:solidFill>
                  <a:srgbClr val="5B6773"/>
                </a:solidFill>
                <a:latin typeface="Calibri" pitchFamily="34" charset="0"/>
                <a:ea typeface="Calibri" pitchFamily="34" charset="-122"/>
                <a:cs typeface="Calibri" pitchFamily="34" charset="-120"/>
              </a:rPr>
              <a:t>Teal: changed. Everything else is identical, so the results on the next slide come from these changes.</a:t>
            </a:r>
            <a:endParaRPr lang="en-US" sz="1100" dirty="0"/>
          </a:p>
        </p:txBody>
      </p:sp>
      <p:sp>
        <p:nvSpPr>
          <p:cNvPr id="7" name="Text 4"/>
          <p:cNvSpPr txBox="1"/>
          <p:nvPr/>
        </p:nvSpPr>
        <p:spPr>
          <a:xfrm>
            <a:off x="457200" y="4754880"/>
            <a:ext cx="7680960" cy="274320"/>
          </a:xfrm>
          <a:prstGeom prst="rect">
            <a:avLst/>
          </a:prstGeom>
          <a:noFill/>
          <a:ln/>
        </p:spPr>
        <p:txBody>
          <a:bodyPr wrap="square" lIns="0" tIns="0" rIns="0" bIns="0" rtlCol="0" anchor="t"/>
          <a:lstStyle/>
          <a:p>
            <a:pPr indent="0" marL="0">
              <a:buNone/>
            </a:pPr>
            <a:endParaRPr lang="en-US" sz="850" dirty="0"/>
          </a:p>
        </p:txBody>
      </p:sp>
      <p:sp>
        <p:nvSpPr>
          <p:cNvPr id="8" name="Text 5"/>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74320"/>
            <a:ext cx="667512" cy="246888"/>
          </a:xfrm>
          <a:prstGeom prst="roundRect">
            <a:avLst>
              <a:gd name="adj" fmla="val 48148"/>
            </a:avLst>
          </a:prstGeom>
          <a:solidFill>
            <a:srgbClr val="2E5A87"/>
          </a:solidFill>
          <a:ln w="12700">
            <a:solidFill>
              <a:srgbClr val="2E5A87"/>
            </a:solidFill>
            <a:prstDash val="solid"/>
          </a:ln>
        </p:spPr>
      </p:sp>
      <p:sp>
        <p:nvSpPr>
          <p:cNvPr id="3" name="Text 1"/>
          <p:cNvSpPr txBox="1"/>
          <p:nvPr/>
        </p:nvSpPr>
        <p:spPr>
          <a:xfrm>
            <a:off x="457200" y="274320"/>
            <a:ext cx="667512"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RESULT</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Result: original vs. final, scored identically</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91840"/>
                <a:gridCol w="1645920"/>
                <a:gridCol w="1645920"/>
                <a:gridCol w="1645920"/>
              </a:tblGrid>
              <a:tr h="43891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Unobserved cells, 4 channels</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Original</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Final</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Ideal</a:t>
                      </a:r>
                      <a:endParaRPr lang="en-US" sz="10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44546A"/>
                    </a:solidFill>
                  </a:tcPr>
                </a:tc>
              </a:tr>
              <a:tr h="438912">
                <a:tc>
                  <a:txBody>
                    <a:bodyPr/>
                    <a:lstStyle/>
                    <a:p>
                      <a:pPr algn="l" indent="0" marL="0">
                        <a:buNone/>
                      </a:pPr>
                      <a:r>
                        <a:rPr lang="en-US" sz="1150" dirty="0">
                          <a:solidFill>
                            <a:srgbClr val="1D2B36"/>
                          </a:solidFill>
                          <a:latin typeface="Calibri" pitchFamily="34" charset="0"/>
                          <a:ea typeface="Calibri" pitchFamily="34" charset="-122"/>
                          <a:cs typeface="Calibri" pitchFamily="34" charset="-120"/>
                        </a:rPr>
                        <a:t>RMSE (lower is better)</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0.264</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0.262</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38912">
                <a:tc>
                  <a:txBody>
                    <a:bodyPr/>
                    <a:lstStyle/>
                    <a:p>
                      <a:pPr algn="l" indent="0" marL="0">
                        <a:buNone/>
                      </a:pPr>
                      <a:r>
                        <a:rPr lang="en-US" sz="1150" b="1" dirty="0">
                          <a:solidFill>
                            <a:srgbClr val="1D2B36"/>
                          </a:solidFill>
                          <a:latin typeface="Calibri" pitchFamily="34" charset="0"/>
                          <a:ea typeface="Calibri" pitchFamily="34" charset="-122"/>
                          <a:cs typeface="Calibri" pitchFamily="34" charset="-120"/>
                        </a:rPr>
                        <a:t>Spread / RMSE</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8EEF5"/>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0.010</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8EEF5"/>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1.008</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8EEF5"/>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E8EEF5"/>
                    </a:solidFill>
                  </a:tcPr>
                </a:tc>
              </a:tr>
              <a:tr h="438912">
                <a:tc>
                  <a:txBody>
                    <a:bodyPr/>
                    <a:lstStyle/>
                    <a:p>
                      <a:pPr algn="l" indent="0" marL="0">
                        <a:buNone/>
                      </a:pPr>
                      <a:r>
                        <a:rPr lang="en-US" sz="1150" dirty="0">
                          <a:solidFill>
                            <a:srgbClr val="1D2B36"/>
                          </a:solidFill>
                          <a:latin typeface="Calibri" pitchFamily="34" charset="0"/>
                          <a:ea typeface="Calibri" pitchFamily="34" charset="-122"/>
                          <a:cs typeface="Calibri" pitchFamily="34" charset="-120"/>
                        </a:rPr>
                        <a:t>CRPS skill (higher is better)</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-0.252</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0.113</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2B36"/>
                          </a:solidFill>
                          <a:latin typeface="Calibri" pitchFamily="34" charset="0"/>
                          <a:ea typeface="Calibri" pitchFamily="34" charset="-122"/>
                          <a:cs typeface="Calibri" pitchFamily="34" charset="-120"/>
                        </a:rPr>
                        <a:t>&gt; 0</a:t>
                      </a:r>
                      <a:endParaRPr lang="en-US" sz="115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3337560"/>
            <a:ext cx="8229600" cy="1097280"/>
          </a:xfrm>
          <a:prstGeom prst="rect">
            <a:avLst/>
          </a:prstGeom>
          <a:noFill/>
          <a:ln/>
        </p:spPr>
        <p:txBody>
          <a:bodyPr wrap="square" lIns="0" tIns="0" rIns="0" bIns="0" rtlCol="0" anchor="t"/>
          <a:lstStyle/>
          <a:p>
            <a:pPr marL="152400" indent="-152400">
              <a:spcAft>
                <a:spcPts val="500"/>
              </a:spcAft>
              <a:buSzPct val="100000"/>
              <a:buChar char="•"/>
            </a:pPr>
            <a:r>
              <a:rPr lang="en-US" sz="1300" b="1" dirty="0">
                <a:solidFill>
                  <a:srgbClr val="1B7F72"/>
                </a:solidFill>
                <a:latin typeface="Calibri" pitchFamily="34" charset="0"/>
                <a:ea typeface="Calibri" pitchFamily="34" charset="-122"/>
                <a:cs typeface="Calibri" pitchFamily="34" charset="-120"/>
              </a:rPr>
              <a:t>Uncertainty: unusable → usable. </a:t>
            </a:r>
            <a:pPr indent="0" marL="0">
              <a:spcAft>
                <a:spcPts val="500"/>
              </a:spcAft>
              <a:buNone/>
            </a:pPr>
            <a:r>
              <a:rPr lang="en-US" sz="1300" dirty="0">
                <a:solidFill>
                  <a:srgbClr val="1D2B36"/>
                </a:solidFill>
                <a:latin typeface="Calibri" pitchFamily="34" charset="0"/>
                <a:ea typeface="Calibri" pitchFamily="34" charset="-122"/>
                <a:cs typeface="Calibri" pitchFamily="34" charset="-120"/>
              </a:rPr>
              <a:t>Spread from 1% of the error to 1.01×.</a:t>
            </a:r>
            <a:endParaRPr lang="en-US" sz="1300" dirty="0"/>
          </a:p>
          <a:p>
            <a:pPr marL="152400" indent="-152400">
              <a:spcAft>
                <a:spcPts val="500"/>
              </a:spcAft>
              <a:buSzPct val="100000"/>
              <a:buChar char="•"/>
            </a:pPr>
            <a:r>
              <a:rPr lang="en-US" sz="1300" b="1" dirty="0">
                <a:solidFill>
                  <a:srgbClr val="1B7F72"/>
                </a:solidFill>
                <a:latin typeface="Calibri" pitchFamily="34" charset="0"/>
                <a:ea typeface="Calibri" pitchFamily="34" charset="-122"/>
                <a:cs typeface="Calibri" pitchFamily="34" charset="-120"/>
              </a:rPr>
              <a:t>Accuracy kept. </a:t>
            </a:r>
            <a:pPr indent="0" marL="0">
              <a:spcAft>
                <a:spcPts val="500"/>
              </a:spcAft>
              <a:buNone/>
            </a:pPr>
            <a:r>
              <a:rPr lang="en-US" sz="1300" dirty="0">
                <a:solidFill>
                  <a:srgbClr val="1D2B36"/>
                </a:solidFill>
                <a:latin typeface="Calibri" pitchFamily="34" charset="0"/>
                <a:ea typeface="Calibri" pitchFamily="34" charset="-122"/>
                <a:cs typeface="Calibri" pitchFamily="34" charset="-120"/>
              </a:rPr>
              <a:t>RMSE slightly lower; velocity variance is still 13% worse than the original.</a:t>
            </a:r>
            <a:endParaRPr lang="en-US" sz="1300" dirty="0"/>
          </a:p>
        </p:txBody>
      </p:sp>
      <p:sp>
        <p:nvSpPr>
          <p:cNvPr id="7" name="Text 4"/>
          <p:cNvSpPr txBox="1"/>
          <p:nvPr/>
        </p:nvSpPr>
        <p:spPr>
          <a:xfrm>
            <a:off x="457200" y="4754880"/>
            <a:ext cx="7680960" cy="274320"/>
          </a:xfrm>
          <a:prstGeom prst="rect">
            <a:avLst/>
          </a:prstGeom>
          <a:noFill/>
          <a:ln/>
        </p:spPr>
        <p:txBody>
          <a:bodyPr wrap="square" lIns="0" tIns="0" rIns="0" bIns="0" rtlCol="0" anchor="t"/>
          <a:lstStyle/>
          <a:p>
            <a:pPr indent="0" marL="0">
              <a:buNone/>
            </a:pPr>
            <a:r>
              <a:rPr lang="en-US" sz="850" i="1" dirty="0">
                <a:solidFill>
                  <a:srgbClr val="5B6773"/>
                </a:solidFill>
                <a:latin typeface="Calibri" pitchFamily="34" charset="0"/>
                <a:ea typeface="Calibri" pitchFamily="34" charset="-122"/>
                <a:cs typeface="Calibri" pitchFamily="34" charset="-120"/>
              </a:rPr>
              <a:t>Seven test days, unobserved walkable cells, four channels; same code, observations and scoring for both.</a:t>
            </a:r>
            <a:endParaRPr lang="en-US" sz="850" dirty="0"/>
          </a:p>
        </p:txBody>
      </p:sp>
      <p:sp>
        <p:nvSpPr>
          <p:cNvPr id="8" name="Text 5"/>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74320"/>
            <a:ext cx="754380" cy="246888"/>
          </a:xfrm>
          <a:prstGeom prst="roundRect">
            <a:avLst>
              <a:gd name="adj" fmla="val 48148"/>
            </a:avLst>
          </a:prstGeom>
          <a:solidFill>
            <a:srgbClr val="2E5A87"/>
          </a:solidFill>
          <a:ln w="12700">
            <a:solidFill>
              <a:srgbClr val="2E5A87"/>
            </a:solidFill>
            <a:prstDash val="solid"/>
          </a:ln>
        </p:spPr>
      </p:sp>
      <p:sp>
        <p:nvSpPr>
          <p:cNvPr id="3" name="Text 1"/>
          <p:cNvSpPr txBox="1"/>
          <p:nvPr/>
        </p:nvSpPr>
        <p:spPr>
          <a:xfrm>
            <a:off x="457200" y="274320"/>
            <a:ext cx="754380" cy="24688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4" name="Text 2"/>
          <p:cNvSpPr txBox="1"/>
          <p:nvPr/>
        </p:nvSpPr>
        <p:spPr>
          <a:xfrm>
            <a:off x="457200" y="566928"/>
            <a:ext cx="8229600" cy="566928"/>
          </a:xfrm>
          <a:prstGeom prst="rect">
            <a:avLst/>
          </a:prstGeom>
          <a:noFill/>
          <a:ln/>
        </p:spPr>
        <p:txBody>
          <a:bodyPr wrap="square" lIns="0" tIns="0" rIns="0" bIns="0" rtlCol="0" anchor="t"/>
          <a:lstStyle/>
          <a:p>
            <a:pPr indent="0" marL="0">
              <a:buNone/>
            </a:pPr>
            <a:r>
              <a:rPr lang="en-US" sz="2200" b="1" dirty="0">
                <a:solidFill>
                  <a:srgbClr val="1D2B36"/>
                </a:solidFill>
                <a:latin typeface="Cambria" pitchFamily="34" charset="0"/>
                <a:ea typeface="Cambria" pitchFamily="34" charset="-122"/>
                <a:cs typeface="Cambria" pitchFamily="34" charset="-120"/>
              </a:rPr>
              <a:t>The final filter, every frame</a:t>
            </a:r>
            <a:endParaRPr lang="en-US" sz="2200" dirty="0"/>
          </a:p>
        </p:txBody>
      </p:sp>
      <p:sp>
        <p:nvSpPr>
          <p:cNvPr id="5" name="Shape 3"/>
          <p:cNvSpPr/>
          <p:nvPr/>
        </p:nvSpPr>
        <p:spPr>
          <a:xfrm>
            <a:off x="457200" y="1325880"/>
            <a:ext cx="1517904" cy="2468880"/>
          </a:xfrm>
          <a:prstGeom prst="roundRect">
            <a:avLst>
              <a:gd name="adj" fmla="val 4819"/>
            </a:avLst>
          </a:prstGeom>
          <a:solidFill>
            <a:srgbClr val="F1F4F6"/>
          </a:solidFill>
          <a:ln w="12700">
            <a:solidFill>
              <a:srgbClr val="F1F4F6"/>
            </a:solidFill>
            <a:prstDash val="solid"/>
          </a:ln>
        </p:spPr>
      </p:sp>
      <p:sp>
        <p:nvSpPr>
          <p:cNvPr id="6" name="Shape 4"/>
          <p:cNvSpPr/>
          <p:nvPr/>
        </p:nvSpPr>
        <p:spPr>
          <a:xfrm>
            <a:off x="566928" y="1453896"/>
            <a:ext cx="329184" cy="329184"/>
          </a:xfrm>
          <a:prstGeom prst="ellipse">
            <a:avLst/>
          </a:prstGeom>
          <a:solidFill>
            <a:srgbClr val="2E5A87"/>
          </a:solidFill>
          <a:ln w="12700">
            <a:solidFill>
              <a:srgbClr val="2E5A87"/>
            </a:solidFill>
            <a:prstDash val="solid"/>
          </a:ln>
        </p:spPr>
      </p:sp>
      <p:sp>
        <p:nvSpPr>
          <p:cNvPr id="7" name="Text 5"/>
          <p:cNvSpPr txBox="1"/>
          <p:nvPr/>
        </p:nvSpPr>
        <p:spPr>
          <a:xfrm>
            <a:off x="566928"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969264" y="1435608"/>
            <a:ext cx="950976" cy="384048"/>
          </a:xfrm>
          <a:prstGeom prst="rect">
            <a:avLst/>
          </a:prstGeom>
          <a:noFill/>
          <a:ln/>
        </p:spPr>
        <p:txBody>
          <a:bodyPr wrap="square" lIns="0" tIns="0" rIns="0" bIns="0" rtlCol="0" anchor="ctr"/>
          <a:lstStyle/>
          <a:p>
            <a:pPr indent="0" marL="0">
              <a:buNone/>
            </a:pPr>
            <a:r>
              <a:rPr lang="en-US" sz="1250" b="1" dirty="0">
                <a:solidFill>
                  <a:srgbClr val="1D2B36"/>
                </a:solidFill>
                <a:latin typeface="Calibri" pitchFamily="34" charset="0"/>
                <a:ea typeface="Calibri" pitchFamily="34" charset="-122"/>
                <a:cs typeface="Calibri" pitchFamily="34" charset="-120"/>
              </a:rPr>
              <a:t>Forecast</a:t>
            </a:r>
            <a:endParaRPr lang="en-US" sz="1250" dirty="0"/>
          </a:p>
        </p:txBody>
      </p:sp>
      <p:sp>
        <p:nvSpPr>
          <p:cNvPr id="9" name="Text 7"/>
          <p:cNvSpPr txBox="1"/>
          <p:nvPr/>
        </p:nvSpPr>
        <p:spPr>
          <a:xfrm>
            <a:off x="566928" y="1929384"/>
            <a:ext cx="1298448" cy="12801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Each of the 100 members runs PedPred3 on its last 5 frames; bias subtracted.</a:t>
            </a:r>
            <a:endParaRPr lang="en-US" sz="1100" dirty="0"/>
          </a:p>
        </p:txBody>
      </p:sp>
      <p:sp>
        <p:nvSpPr>
          <p:cNvPr id="10" name="Shape 8"/>
          <p:cNvSpPr/>
          <p:nvPr/>
        </p:nvSpPr>
        <p:spPr>
          <a:xfrm>
            <a:off x="566928" y="3410712"/>
            <a:ext cx="1298448" cy="256032"/>
          </a:xfrm>
          <a:prstGeom prst="roundRect">
            <a:avLst>
              <a:gd name="adj" fmla="val 35714"/>
            </a:avLst>
          </a:prstGeom>
          <a:solidFill>
            <a:srgbClr val="1B7F72"/>
          </a:solidFill>
          <a:ln w="12700">
            <a:solidFill>
              <a:srgbClr val="1B7F72"/>
            </a:solidFill>
            <a:prstDash val="solid"/>
          </a:ln>
        </p:spPr>
      </p:sp>
      <p:sp>
        <p:nvSpPr>
          <p:cNvPr id="11" name="Text 9"/>
          <p:cNvSpPr txBox="1"/>
          <p:nvPr/>
        </p:nvSpPr>
        <p:spPr>
          <a:xfrm>
            <a:off x="566928" y="3410712"/>
            <a:ext cx="12984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retrained model</a:t>
            </a:r>
            <a:endParaRPr lang="en-US" sz="900" dirty="0"/>
          </a:p>
        </p:txBody>
      </p:sp>
      <p:sp>
        <p:nvSpPr>
          <p:cNvPr id="12" name="Text 10"/>
          <p:cNvSpPr txBox="1"/>
          <p:nvPr/>
        </p:nvSpPr>
        <p:spPr>
          <a:xfrm>
            <a:off x="1956816" y="2377440"/>
            <a:ext cx="201168" cy="365760"/>
          </a:xfrm>
          <a:prstGeom prst="rect">
            <a:avLst/>
          </a:prstGeom>
          <a:noFill/>
          <a:ln/>
        </p:spPr>
        <p:txBody>
          <a:bodyPr wrap="square" lIns="0" tIns="0" rIns="0" bIns="0" rtlCol="0" anchor="ctr"/>
          <a:lstStyle/>
          <a:p>
            <a:pPr algn="ctr" indent="0" marL="0">
              <a:buNone/>
            </a:pPr>
            <a:r>
              <a:rPr lang="en-US" sz="1600" b="1" dirty="0">
                <a:solidFill>
                  <a:srgbClr val="5B6773"/>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2139696" y="1325880"/>
            <a:ext cx="1517904" cy="2468880"/>
          </a:xfrm>
          <a:prstGeom prst="roundRect">
            <a:avLst>
              <a:gd name="adj" fmla="val 4819"/>
            </a:avLst>
          </a:prstGeom>
          <a:solidFill>
            <a:srgbClr val="F1F4F6"/>
          </a:solidFill>
          <a:ln w="12700">
            <a:solidFill>
              <a:srgbClr val="F1F4F6"/>
            </a:solidFill>
            <a:prstDash val="solid"/>
          </a:ln>
        </p:spPr>
      </p:sp>
      <p:sp>
        <p:nvSpPr>
          <p:cNvPr id="14" name="Shape 12"/>
          <p:cNvSpPr/>
          <p:nvPr/>
        </p:nvSpPr>
        <p:spPr>
          <a:xfrm>
            <a:off x="2249424" y="1453896"/>
            <a:ext cx="329184" cy="329184"/>
          </a:xfrm>
          <a:prstGeom prst="ellipse">
            <a:avLst/>
          </a:prstGeom>
          <a:solidFill>
            <a:srgbClr val="2E5A87"/>
          </a:solidFill>
          <a:ln w="12700">
            <a:solidFill>
              <a:srgbClr val="2E5A87"/>
            </a:solidFill>
            <a:prstDash val="solid"/>
          </a:ln>
        </p:spPr>
      </p:sp>
      <p:sp>
        <p:nvSpPr>
          <p:cNvPr id="15" name="Text 13"/>
          <p:cNvSpPr txBox="1"/>
          <p:nvPr/>
        </p:nvSpPr>
        <p:spPr>
          <a:xfrm>
            <a:off x="2249424"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2651760" y="1435608"/>
            <a:ext cx="950976" cy="384048"/>
          </a:xfrm>
          <a:prstGeom prst="rect">
            <a:avLst/>
          </a:prstGeom>
          <a:noFill/>
          <a:ln/>
        </p:spPr>
        <p:txBody>
          <a:bodyPr wrap="square" lIns="0" tIns="0" rIns="0" bIns="0" rtlCol="0" anchor="ctr"/>
          <a:lstStyle/>
          <a:p>
            <a:pPr indent="0" marL="0">
              <a:buNone/>
            </a:pPr>
            <a:r>
              <a:rPr lang="en-US" sz="1250" b="1" dirty="0">
                <a:solidFill>
                  <a:srgbClr val="1D2B36"/>
                </a:solidFill>
                <a:latin typeface="Calibri" pitchFamily="34" charset="0"/>
                <a:ea typeface="Calibri" pitchFamily="34" charset="-122"/>
                <a:cs typeface="Calibri" pitchFamily="34" charset="-120"/>
              </a:rPr>
              <a:t>Noise</a:t>
            </a:r>
            <a:endParaRPr lang="en-US" sz="1250" dirty="0"/>
          </a:p>
        </p:txBody>
      </p:sp>
      <p:sp>
        <p:nvSpPr>
          <p:cNvPr id="17" name="Text 15"/>
          <p:cNvSpPr txBox="1"/>
          <p:nvPr/>
        </p:nvSpPr>
        <p:spPr>
          <a:xfrm>
            <a:off x="2249424" y="1929384"/>
            <a:ext cx="1298448" cy="12801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Each member adds one real error map (previous slides).</a:t>
            </a:r>
            <a:endParaRPr lang="en-US" sz="1100" dirty="0"/>
          </a:p>
        </p:txBody>
      </p:sp>
      <p:sp>
        <p:nvSpPr>
          <p:cNvPr id="18" name="Shape 16"/>
          <p:cNvSpPr/>
          <p:nvPr/>
        </p:nvSpPr>
        <p:spPr>
          <a:xfrm>
            <a:off x="2249424" y="3410712"/>
            <a:ext cx="1298448" cy="256032"/>
          </a:xfrm>
          <a:prstGeom prst="roundRect">
            <a:avLst>
              <a:gd name="adj" fmla="val 35714"/>
            </a:avLst>
          </a:prstGeom>
          <a:solidFill>
            <a:srgbClr val="1B7F72"/>
          </a:solidFill>
          <a:ln w="12700">
            <a:solidFill>
              <a:srgbClr val="1B7F72"/>
            </a:solidFill>
            <a:prstDash val="solid"/>
          </a:ln>
        </p:spPr>
      </p:sp>
      <p:sp>
        <p:nvSpPr>
          <p:cNvPr id="19" name="Text 17"/>
          <p:cNvSpPr txBox="1"/>
          <p:nvPr/>
        </p:nvSpPr>
        <p:spPr>
          <a:xfrm>
            <a:off x="2249424" y="3410712"/>
            <a:ext cx="12984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new</a:t>
            </a:r>
            <a:endParaRPr lang="en-US" sz="900" dirty="0"/>
          </a:p>
        </p:txBody>
      </p:sp>
      <p:sp>
        <p:nvSpPr>
          <p:cNvPr id="20" name="Text 18"/>
          <p:cNvSpPr txBox="1"/>
          <p:nvPr/>
        </p:nvSpPr>
        <p:spPr>
          <a:xfrm>
            <a:off x="3639312" y="2377440"/>
            <a:ext cx="201168" cy="365760"/>
          </a:xfrm>
          <a:prstGeom prst="rect">
            <a:avLst/>
          </a:prstGeom>
          <a:noFill/>
          <a:ln/>
        </p:spPr>
        <p:txBody>
          <a:bodyPr wrap="square" lIns="0" tIns="0" rIns="0" bIns="0" rtlCol="0" anchor="ctr"/>
          <a:lstStyle/>
          <a:p>
            <a:pPr algn="ctr" indent="0" marL="0">
              <a:buNone/>
            </a:pPr>
            <a:r>
              <a:rPr lang="en-US" sz="1600" b="1" dirty="0">
                <a:solidFill>
                  <a:srgbClr val="5B6773"/>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3822192" y="1325880"/>
            <a:ext cx="1517904" cy="2468880"/>
          </a:xfrm>
          <a:prstGeom prst="roundRect">
            <a:avLst>
              <a:gd name="adj" fmla="val 4819"/>
            </a:avLst>
          </a:prstGeom>
          <a:solidFill>
            <a:srgbClr val="F1F4F6"/>
          </a:solidFill>
          <a:ln w="12700">
            <a:solidFill>
              <a:srgbClr val="F1F4F6"/>
            </a:solidFill>
            <a:prstDash val="solid"/>
          </a:ln>
        </p:spPr>
      </p:sp>
      <p:sp>
        <p:nvSpPr>
          <p:cNvPr id="22" name="Shape 20"/>
          <p:cNvSpPr/>
          <p:nvPr/>
        </p:nvSpPr>
        <p:spPr>
          <a:xfrm>
            <a:off x="3931920" y="1453896"/>
            <a:ext cx="329184" cy="329184"/>
          </a:xfrm>
          <a:prstGeom prst="ellipse">
            <a:avLst/>
          </a:prstGeom>
          <a:solidFill>
            <a:srgbClr val="2E5A87"/>
          </a:solidFill>
          <a:ln w="12700">
            <a:solidFill>
              <a:srgbClr val="2E5A87"/>
            </a:solidFill>
            <a:prstDash val="solid"/>
          </a:ln>
        </p:spPr>
      </p:sp>
      <p:sp>
        <p:nvSpPr>
          <p:cNvPr id="23" name="Text 21"/>
          <p:cNvSpPr txBox="1"/>
          <p:nvPr/>
        </p:nvSpPr>
        <p:spPr>
          <a:xfrm>
            <a:off x="3931920"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4334256" y="1435608"/>
            <a:ext cx="950976" cy="384048"/>
          </a:xfrm>
          <a:prstGeom prst="rect">
            <a:avLst/>
          </a:prstGeom>
          <a:noFill/>
          <a:ln/>
        </p:spPr>
        <p:txBody>
          <a:bodyPr wrap="square" lIns="0" tIns="0" rIns="0" bIns="0" rtlCol="0" anchor="ctr"/>
          <a:lstStyle/>
          <a:p>
            <a:pPr indent="0" marL="0">
              <a:buNone/>
            </a:pPr>
            <a:r>
              <a:rPr lang="en-US" sz="1250" b="1" dirty="0">
                <a:solidFill>
                  <a:srgbClr val="1D2B36"/>
                </a:solidFill>
                <a:latin typeface="Calibri" pitchFamily="34" charset="0"/>
                <a:ea typeface="Calibri" pitchFamily="34" charset="-122"/>
                <a:cs typeface="Calibri" pitchFamily="34" charset="-120"/>
              </a:rPr>
              <a:t>Kalman update</a:t>
            </a:r>
            <a:endParaRPr lang="en-US" sz="1250" dirty="0"/>
          </a:p>
        </p:txBody>
      </p:sp>
      <p:sp>
        <p:nvSpPr>
          <p:cNvPr id="25" name="Text 23"/>
          <p:cNvSpPr txBox="1"/>
          <p:nvPr/>
        </p:nvSpPr>
        <p:spPr>
          <a:xfrm>
            <a:off x="3931920" y="1929384"/>
            <a:ext cx="1298448" cy="12801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Members pulled towards the robots' observations, localised.</a:t>
            </a:r>
            <a:endParaRPr lang="en-US" sz="1100" dirty="0"/>
          </a:p>
        </p:txBody>
      </p:sp>
      <p:sp>
        <p:nvSpPr>
          <p:cNvPr id="26" name="Shape 24"/>
          <p:cNvSpPr/>
          <p:nvPr/>
        </p:nvSpPr>
        <p:spPr>
          <a:xfrm>
            <a:off x="3931920" y="3410712"/>
            <a:ext cx="1298448" cy="256032"/>
          </a:xfrm>
          <a:prstGeom prst="roundRect">
            <a:avLst>
              <a:gd name="adj" fmla="val 35714"/>
            </a:avLst>
          </a:prstGeom>
          <a:solidFill>
            <a:srgbClr val="44546A"/>
          </a:solidFill>
          <a:ln w="12700">
            <a:solidFill>
              <a:srgbClr val="44546A"/>
            </a:solidFill>
            <a:prstDash val="solid"/>
          </a:ln>
        </p:spPr>
      </p:sp>
      <p:sp>
        <p:nvSpPr>
          <p:cNvPr id="27" name="Text 25"/>
          <p:cNvSpPr txBox="1"/>
          <p:nvPr/>
        </p:nvSpPr>
        <p:spPr>
          <a:xfrm>
            <a:off x="3931920" y="3410712"/>
            <a:ext cx="12984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original</a:t>
            </a:r>
            <a:endParaRPr lang="en-US" sz="900" dirty="0"/>
          </a:p>
        </p:txBody>
      </p:sp>
      <p:sp>
        <p:nvSpPr>
          <p:cNvPr id="28" name="Text 26"/>
          <p:cNvSpPr txBox="1"/>
          <p:nvPr/>
        </p:nvSpPr>
        <p:spPr>
          <a:xfrm>
            <a:off x="5321808" y="2377440"/>
            <a:ext cx="201168" cy="365760"/>
          </a:xfrm>
          <a:prstGeom prst="rect">
            <a:avLst/>
          </a:prstGeom>
          <a:noFill/>
          <a:ln/>
        </p:spPr>
        <p:txBody>
          <a:bodyPr wrap="square" lIns="0" tIns="0" rIns="0" bIns="0" rtlCol="0" anchor="ctr"/>
          <a:lstStyle/>
          <a:p>
            <a:pPr algn="ctr" indent="0" marL="0">
              <a:buNone/>
            </a:pPr>
            <a:r>
              <a:rPr lang="en-US" sz="1600" b="1" dirty="0">
                <a:solidFill>
                  <a:srgbClr val="5B6773"/>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5504688" y="1325880"/>
            <a:ext cx="1517904" cy="2468880"/>
          </a:xfrm>
          <a:prstGeom prst="roundRect">
            <a:avLst>
              <a:gd name="adj" fmla="val 4819"/>
            </a:avLst>
          </a:prstGeom>
          <a:solidFill>
            <a:srgbClr val="F1F4F6"/>
          </a:solidFill>
          <a:ln w="12700">
            <a:solidFill>
              <a:srgbClr val="F1F4F6"/>
            </a:solidFill>
            <a:prstDash val="solid"/>
          </a:ln>
        </p:spPr>
      </p:sp>
      <p:sp>
        <p:nvSpPr>
          <p:cNvPr id="30" name="Shape 28"/>
          <p:cNvSpPr/>
          <p:nvPr/>
        </p:nvSpPr>
        <p:spPr>
          <a:xfrm>
            <a:off x="5614416" y="1453896"/>
            <a:ext cx="329184" cy="329184"/>
          </a:xfrm>
          <a:prstGeom prst="ellipse">
            <a:avLst/>
          </a:prstGeom>
          <a:solidFill>
            <a:srgbClr val="2E5A87"/>
          </a:solidFill>
          <a:ln w="12700">
            <a:solidFill>
              <a:srgbClr val="2E5A87"/>
            </a:solidFill>
            <a:prstDash val="solid"/>
          </a:ln>
        </p:spPr>
      </p:sp>
      <p:sp>
        <p:nvSpPr>
          <p:cNvPr id="31" name="Text 29"/>
          <p:cNvSpPr txBox="1"/>
          <p:nvPr/>
        </p:nvSpPr>
        <p:spPr>
          <a:xfrm>
            <a:off x="5614416"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6016752" y="1435608"/>
            <a:ext cx="950976" cy="384048"/>
          </a:xfrm>
          <a:prstGeom prst="rect">
            <a:avLst/>
          </a:prstGeom>
          <a:noFill/>
          <a:ln/>
        </p:spPr>
        <p:txBody>
          <a:bodyPr wrap="square" lIns="0" tIns="0" rIns="0" bIns="0" rtlCol="0" anchor="ctr"/>
          <a:lstStyle/>
          <a:p>
            <a:pPr indent="0" marL="0">
              <a:buNone/>
            </a:pPr>
            <a:r>
              <a:rPr lang="en-US" sz="1250" b="1" dirty="0">
                <a:solidFill>
                  <a:srgbClr val="1D2B36"/>
                </a:solidFill>
                <a:latin typeface="Calibri" pitchFamily="34" charset="0"/>
                <a:ea typeface="Calibri" pitchFamily="34" charset="-122"/>
                <a:cs typeface="Calibri" pitchFamily="34" charset="-120"/>
              </a:rPr>
              <a:t>Bias update</a:t>
            </a:r>
            <a:endParaRPr lang="en-US" sz="1250" dirty="0"/>
          </a:p>
        </p:txBody>
      </p:sp>
      <p:sp>
        <p:nvSpPr>
          <p:cNvPr id="33" name="Text 31"/>
          <p:cNvSpPr txBox="1"/>
          <p:nvPr/>
        </p:nvSpPr>
        <p:spPr>
          <a:xfrm>
            <a:off x="5614416" y="1929384"/>
            <a:ext cx="1298448" cy="12801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Slow running estimate of the systematic error.</a:t>
            </a:r>
            <a:endParaRPr lang="en-US" sz="1100" dirty="0"/>
          </a:p>
        </p:txBody>
      </p:sp>
      <p:sp>
        <p:nvSpPr>
          <p:cNvPr id="34" name="Shape 32"/>
          <p:cNvSpPr/>
          <p:nvPr/>
        </p:nvSpPr>
        <p:spPr>
          <a:xfrm>
            <a:off x="5614416" y="3410712"/>
            <a:ext cx="1298448" cy="256032"/>
          </a:xfrm>
          <a:prstGeom prst="roundRect">
            <a:avLst>
              <a:gd name="adj" fmla="val 35714"/>
            </a:avLst>
          </a:prstGeom>
          <a:solidFill>
            <a:srgbClr val="44546A"/>
          </a:solidFill>
          <a:ln w="12700">
            <a:solidFill>
              <a:srgbClr val="44546A"/>
            </a:solidFill>
            <a:prstDash val="solid"/>
          </a:ln>
        </p:spPr>
      </p:sp>
      <p:sp>
        <p:nvSpPr>
          <p:cNvPr id="35" name="Text 33"/>
          <p:cNvSpPr txBox="1"/>
          <p:nvPr/>
        </p:nvSpPr>
        <p:spPr>
          <a:xfrm>
            <a:off x="5614416" y="3410712"/>
            <a:ext cx="12984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original</a:t>
            </a:r>
            <a:endParaRPr lang="en-US" sz="900" dirty="0"/>
          </a:p>
        </p:txBody>
      </p:sp>
      <p:sp>
        <p:nvSpPr>
          <p:cNvPr id="36" name="Text 34"/>
          <p:cNvSpPr txBox="1"/>
          <p:nvPr/>
        </p:nvSpPr>
        <p:spPr>
          <a:xfrm>
            <a:off x="7004304" y="2377440"/>
            <a:ext cx="201168" cy="365760"/>
          </a:xfrm>
          <a:prstGeom prst="rect">
            <a:avLst/>
          </a:prstGeom>
          <a:noFill/>
          <a:ln/>
        </p:spPr>
        <p:txBody>
          <a:bodyPr wrap="square" lIns="0" tIns="0" rIns="0" bIns="0" rtlCol="0" anchor="ctr"/>
          <a:lstStyle/>
          <a:p>
            <a:pPr algn="ctr" indent="0" marL="0">
              <a:buNone/>
            </a:pPr>
            <a:r>
              <a:rPr lang="en-US" sz="1600" b="1" dirty="0">
                <a:solidFill>
                  <a:srgbClr val="5B6773"/>
                </a:solidFill>
                <a:latin typeface="Calibri" pitchFamily="34" charset="0"/>
                <a:ea typeface="Calibri" pitchFamily="34" charset="-122"/>
                <a:cs typeface="Calibri" pitchFamily="34" charset="-120"/>
              </a:rPr>
              <a:t>→</a:t>
            </a:r>
            <a:endParaRPr lang="en-US" sz="1600" dirty="0"/>
          </a:p>
        </p:txBody>
      </p:sp>
      <p:sp>
        <p:nvSpPr>
          <p:cNvPr id="37" name="Shape 35"/>
          <p:cNvSpPr/>
          <p:nvPr/>
        </p:nvSpPr>
        <p:spPr>
          <a:xfrm>
            <a:off x="7187184" y="1325880"/>
            <a:ext cx="1517904" cy="2468880"/>
          </a:xfrm>
          <a:prstGeom prst="roundRect">
            <a:avLst>
              <a:gd name="adj" fmla="val 4819"/>
            </a:avLst>
          </a:prstGeom>
          <a:solidFill>
            <a:srgbClr val="F1F4F6"/>
          </a:solidFill>
          <a:ln w="12700">
            <a:solidFill>
              <a:srgbClr val="F1F4F6"/>
            </a:solidFill>
            <a:prstDash val="solid"/>
          </a:ln>
        </p:spPr>
      </p:sp>
      <p:sp>
        <p:nvSpPr>
          <p:cNvPr id="38" name="Shape 36"/>
          <p:cNvSpPr/>
          <p:nvPr/>
        </p:nvSpPr>
        <p:spPr>
          <a:xfrm>
            <a:off x="7296912" y="1453896"/>
            <a:ext cx="329184" cy="329184"/>
          </a:xfrm>
          <a:prstGeom prst="ellipse">
            <a:avLst/>
          </a:prstGeom>
          <a:solidFill>
            <a:srgbClr val="2E5A87"/>
          </a:solidFill>
          <a:ln w="12700">
            <a:solidFill>
              <a:srgbClr val="2E5A87"/>
            </a:solidFill>
            <a:prstDash val="solid"/>
          </a:ln>
        </p:spPr>
      </p:sp>
      <p:sp>
        <p:nvSpPr>
          <p:cNvPr id="39" name="Text 37"/>
          <p:cNvSpPr txBox="1"/>
          <p:nvPr/>
        </p:nvSpPr>
        <p:spPr>
          <a:xfrm>
            <a:off x="7296912"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8"/>
          <p:cNvSpPr txBox="1"/>
          <p:nvPr/>
        </p:nvSpPr>
        <p:spPr>
          <a:xfrm>
            <a:off x="7699248" y="1435608"/>
            <a:ext cx="950976" cy="384048"/>
          </a:xfrm>
          <a:prstGeom prst="rect">
            <a:avLst/>
          </a:prstGeom>
          <a:noFill/>
          <a:ln/>
        </p:spPr>
        <p:txBody>
          <a:bodyPr wrap="square" lIns="0" tIns="0" rIns="0" bIns="0" rtlCol="0" anchor="ctr"/>
          <a:lstStyle/>
          <a:p>
            <a:pPr indent="0" marL="0">
              <a:buNone/>
            </a:pPr>
            <a:r>
              <a:rPr lang="en-US" sz="1250" b="1" dirty="0">
                <a:solidFill>
                  <a:srgbClr val="1D2B36"/>
                </a:solidFill>
                <a:latin typeface="Calibri" pitchFamily="34" charset="0"/>
                <a:ea typeface="Calibri" pitchFamily="34" charset="-122"/>
                <a:cs typeface="Calibri" pitchFamily="34" charset="-120"/>
              </a:rPr>
              <a:t>Output</a:t>
            </a:r>
            <a:endParaRPr lang="en-US" sz="1250" dirty="0"/>
          </a:p>
        </p:txBody>
      </p:sp>
      <p:sp>
        <p:nvSpPr>
          <p:cNvPr id="41" name="Text 39"/>
          <p:cNvSpPr txBox="1"/>
          <p:nvPr/>
        </p:nvSpPr>
        <p:spPr>
          <a:xfrm>
            <a:off x="7296912" y="1929384"/>
            <a:ext cx="1298448" cy="1280160"/>
          </a:xfrm>
          <a:prstGeom prst="rect">
            <a:avLst/>
          </a:prstGeom>
          <a:noFill/>
          <a:ln/>
        </p:spPr>
        <p:txBody>
          <a:bodyPr wrap="square" lIns="0" tIns="0" rIns="0" bIns="0" rtlCol="0" anchor="t"/>
          <a:lstStyle/>
          <a:p>
            <a:pPr indent="0" marL="0">
              <a:buNone/>
            </a:pPr>
            <a:r>
              <a:rPr lang="en-US" sz="1100" dirty="0">
                <a:solidFill>
                  <a:srgbClr val="1D2B36"/>
                </a:solidFill>
                <a:latin typeface="Calibri" pitchFamily="34" charset="0"/>
                <a:ea typeface="Calibri" pitchFamily="34" charset="-122"/>
                <a:cs typeface="Calibri" pitchFamily="34" charset="-120"/>
              </a:rPr>
              <a:t>Mean = reconstruction; spread = σ̂.</a:t>
            </a:r>
            <a:endParaRPr lang="en-US" sz="1100" dirty="0"/>
          </a:p>
        </p:txBody>
      </p:sp>
      <p:sp>
        <p:nvSpPr>
          <p:cNvPr id="42" name="Text 40"/>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100" i="1" dirty="0">
                <a:solidFill>
                  <a:srgbClr val="5B6773"/>
                </a:solidFill>
                <a:latin typeface="Calibri" pitchFamily="34" charset="0"/>
                <a:ea typeface="Calibri" pitchFamily="34" charset="-122"/>
                <a:cs typeface="Calibri" pitchFamily="34" charset="-120"/>
              </a:rPr>
              <a:t>↻  step 5 feeds step 1 of the next frame (one second later)</a:t>
            </a:r>
            <a:endParaRPr lang="en-US" sz="1100" dirty="0"/>
          </a:p>
        </p:txBody>
      </p:sp>
      <p:sp>
        <p:nvSpPr>
          <p:cNvPr id="43" name="Text 41"/>
          <p:cNvSpPr txBox="1"/>
          <p:nvPr/>
        </p:nvSpPr>
        <p:spPr>
          <a:xfrm>
            <a:off x="457200" y="4754880"/>
            <a:ext cx="7680960" cy="274320"/>
          </a:xfrm>
          <a:prstGeom prst="rect">
            <a:avLst/>
          </a:prstGeom>
          <a:noFill/>
          <a:ln/>
        </p:spPr>
        <p:txBody>
          <a:bodyPr wrap="square" lIns="0" tIns="0" rIns="0" bIns="0" rtlCol="0" anchor="t"/>
          <a:lstStyle/>
          <a:p>
            <a:pPr indent="0" marL="0">
              <a:buNone/>
            </a:pPr>
            <a:endParaRPr lang="en-US" sz="850" dirty="0"/>
          </a:p>
        </p:txBody>
      </p:sp>
      <p:sp>
        <p:nvSpPr>
          <p:cNvPr id="44" name="Text 42"/>
          <p:cNvSpPr txBox="1"/>
          <p:nvPr/>
        </p:nvSpPr>
        <p:spPr>
          <a:xfrm>
            <a:off x="8321040" y="4754880"/>
            <a:ext cx="365760" cy="274320"/>
          </a:xfrm>
          <a:prstGeom prst="rect">
            <a:avLst/>
          </a:prstGeom>
          <a:noFill/>
          <a:ln/>
        </p:spPr>
        <p:txBody>
          <a:bodyPr wrap="square" lIns="0" tIns="0" rIns="0" bIns="0" rtlCol="0" anchor="t"/>
          <a:lstStyle/>
          <a:p>
            <a:pPr algn="r" indent="0" marL="0">
              <a:buNone/>
            </a:pPr>
            <a:r>
              <a:rPr lang="en-US" sz="900" dirty="0">
                <a:solidFill>
                  <a:srgbClr val="5B67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Optimising the EnKF</dc:title>
  <dc:subject>PptxGenJS Presentation</dc:subject>
  <dc:creator>PptxGenJS</dc:creator>
  <cp:lastModifiedBy>PptxGenJS</cp:lastModifiedBy>
  <cp:revision>1</cp:revision>
  <dcterms:created xsi:type="dcterms:W3CDTF">2026-09-28T11:18:55Z</dcterms:created>
  <dcterms:modified xsi:type="dcterms:W3CDTF">2026-09-28T11:18:55Z</dcterms:modified>
</cp:coreProperties>
</file>