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to open with: every headline number in this deck is stable, and every RANKING built from those numbers is not. That is the finding, not a caveat.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bottom line settles what “three-way” means for this project: the comparison is over four independent RECONSTRUCTION methods, and the two 4DVarNet sigma-hat designs are ours rather than the paper's.</a:t>
            </a:r>
          </a:p>
          <a:p/>
          <a:p>
            <a:r>
              <a:t>If asked why Senseiver has no uncertainty: it is a deterministic sensor-to-field decoder; adding a variance head would be the same kind of bolt-on we are about to show does not work for 4DVarNet.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last line slowly. The deck is falsifiable: two chances for the ordering to hold, and it holds in neither.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if pushed: convention A blind RMSE — DINCAE 0.329, Senseiver 0.343, 4DVarNet 0.359, EnKF 0.368. Convention B — Senseiver 0.168, 4DVarNet 0.191, EnKF 0.215, DINCAE 0.757.</a:t>
            </a:r>
          </a:p>
          <a:p/>
          <a:p>
            <a:r>
              <a:t>All five rows are single models, default configuration, seed 0, and each one's checkpoint picked on ITS OWN validation set. No ensembling, no checkpoint averaging. Held ready: 16-checkpoint averaging is worth only 1.7% to DINCAE, less than picking the right single checkpoint.</a:t>
            </a:r>
          </a:p>
          <a:p/>
          <a:p>
            <a:r>
              <a:t>Four panels, not four bars in two: convention down the rows, cell scope across the columns. Each panel is one plain bar chart in the method colours, so nothing has to be decoded from a legend.</a:t>
            </a:r>
          </a:p>
          <a:p/>
          <a:p>
            <a:r>
              <a:t>One detail visible in the figure and worth having ready: the EnKF is the only method whose FULL-FIELD error (0.374) is worse than its blind error (0.368). Every other method is clearly better where it was given observations. That is the same ensemble collapse the uncertainty slide is about — the gain is so small the filter barely assimilates what it sees.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CRPS is the verdict column and not NLL: NLL has a (x-mu)^2/2sigma^2 term that is unbounded as sigma -&gt; 0. The EnKF's ensemble collapses to sigma = 0.0025 while actually being wrong by 0.215, so its NLL is 1.7e18 — that cannot rank anything. CRPS is bounded, in data units, and reduces to MAE as sigma -&gt; 0.</a:t>
            </a:r>
          </a:p>
          <a:p/>
          <a:p>
            <a:r>
              <a:t>Robustness, the important part: under the all-cells convention the same four come out -76.1% / -24.3% / +50.1% / +26.8%. The magnitudes move a lot — vsb0 looks catastrophic there and merely tied here — but the SIGN does not. Structural wins, bolt-on loses, both ways.</a:t>
            </a:r>
          </a:p>
          <a:p/>
          <a:p>
            <a:r>
              <a:t>Cost, if asked: the sigma-hat is not free. aug0 is 13.9% worse than plain MSE on accuracy, vsb0 10.3% worse; the three arms' 5-seed intervals do not overlap. So vsb0 pays and buys nothing, aug0 pays 3.6 points more and buys a usable sigma.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 the correction plainly, then move on — it is one slide, not a defence.</a:t>
            </a:r>
          </a:p>
          <a:p/>
          <a:p>
            <a:r>
              <a:t>Interleaved, not blocked: round 1 runs every method, then round 2, and so on. Blocking would let a change in the shared node's background load land entirely on one method and be read as a difference between methods. Largest run-to-run spread here is 3.5% of the mean.</a:t>
            </a:r>
          </a:p>
          <a:p/>
          <a:p>
            <a:r>
              <a:t>The caveat matters and I would rather state it than be asked: for the three per-frame methods this number IS the delay before that frame's estimate exists. For 4DVarNet it is not — one window solves in about 0.55 s. I have the latency figures measured and can show them if you want, but the amortised cost is what is on this slide.</a:t>
            </a:r>
          </a:p>
          <a:p/>
          <a:p>
            <a:r>
              <a:t>k=4 is not shown: in our setting the robots observe every frame. The a2 widened-prior 4DVarNet is not shown either — the bar here is the same model as the accuracy slides.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strongest slide. Everything before it argues the hypothesis across methods; this proves it INSIDE one method, where architecture, data, and checkpoint rule are all held fixed.</a:t>
            </a:r>
          </a:p>
          <a:p/>
          <a:p>
            <a:r>
              <a:t>Cost: 150 epochs, ~21 GPU-hours, plus a separate 13 GB target cache. The change itself is two lines in encode_target.</a:t>
            </a:r>
          </a:p>
          <a:p/>
          <a:p>
            <a:r>
              <a:t>One trap worth mentioning if the question comes: the naive version — flip the loss mask to 1 and keep the existing targets — trains the network to predict the per-cell CLIMATOLOGY on empty cells, because a stored 0 in normalised space decodes to mean[c] (-0.067 for vy), not to physical zero.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377440"/>
            <a:ext cx="10362895" cy="1645920"/>
          </a:xfrm>
          <a:prstGeom prst="rect">
            <a:avLst/>
          </a:prstGeom>
          <a:noFill/>
        </p:spPr>
        <p:txBody>
          <a:bodyPr wrap="none">
            <a:spAutoFit/>
          </a:bodyPr>
          <a:lstStyle/>
          <a:p>
            <a:pPr>
              <a:defRPr sz="3400" b="1">
                <a:solidFill>
                  <a:srgbClr val="20334D"/>
                </a:solidFill>
              </a:defRPr>
            </a:pPr>
            <a:r>
              <a:t>Four methods, two benchmarks — and a ranking that moves</a:t>
            </a:r>
          </a:p>
          <a:p>
            <a:pPr>
              <a:defRPr sz="2000" b="0">
                <a:solidFill>
                  <a:srgbClr val="596677"/>
                </a:solidFill>
              </a:defRPr>
            </a:pPr>
            <a:r>
              <a:t>Crowd-field reconstruction from partial robot observations · ATC, 7 held-out days</a:t>
            </a:r>
          </a:p>
          <a:p>
            <a:pPr>
              <a:defRPr sz="1600" b="0">
                <a:solidFill>
                  <a:srgbClr val="596677"/>
                </a:solidFill>
              </a:defRPr>
            </a:pPr>
            <a:r>
              <a:t>2026-09-07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7295" cy="731520"/>
          </a:xfrm>
          <a:prstGeom prst="rect">
            <a:avLst/>
          </a:prstGeom>
          <a:noFill/>
        </p:spPr>
        <p:txBody>
          <a:bodyPr wrap="none">
            <a:spAutoFit/>
          </a:bodyPr>
          <a:lstStyle/>
          <a:p>
            <a:pPr>
              <a:defRPr sz="2800" b="1">
                <a:solidFill>
                  <a:srgbClr val="20334D"/>
                </a:solidFill>
              </a:defRPr>
            </a:pPr>
            <a:r>
              <a:t>What the four methods actually offer</a:t>
            </a:r>
          </a:p>
        </p:txBody>
      </p:sp>
      <p:sp>
        <p:nvSpPr>
          <p:cNvPr id="3" name="TextBox 2"/>
          <p:cNvSpPr txBox="1"/>
          <p:nvPr/>
        </p:nvSpPr>
        <p:spPr>
          <a:xfrm>
            <a:off x="822960" y="4709160"/>
            <a:ext cx="10607040" cy="1737360"/>
          </a:xfrm>
          <a:prstGeom prst="rect">
            <a:avLst/>
          </a:prstGeom>
          <a:noFill/>
        </p:spPr>
        <p:txBody>
          <a:bodyPr wrap="square">
            <a:spAutoFit/>
          </a:bodyPr>
          <a:lstStyle/>
          <a:p>
            <a:pPr>
              <a:spcAft>
                <a:spcPts val="600"/>
              </a:spcAft>
              <a:defRPr sz="1350">
                <a:solidFill>
                  <a:srgbClr val="20334D"/>
                </a:solidFill>
              </a:defRPr>
            </a:pPr>
            <a:r>
              <a:t>Accuracy compares four methods. Uncertainty compares three — Senseiver has no sigma-hat at all.</a:t>
            </a:r>
          </a:p>
          <a:p>
            <a:pPr>
              <a:spcAft>
                <a:spcPts val="600"/>
              </a:spcAft>
              <a:defRPr sz="1350">
                <a:solidFill>
                  <a:srgbClr val="20334D"/>
                </a:solidFill>
              </a:defRPr>
            </a:pPr>
            <a:r>
              <a:t>For DINCAE and the EnKF the uncertainty IS the method: remove the information form or the ensemble and you no longer have that method.</a:t>
            </a:r>
          </a:p>
          <a:p>
            <a:pPr>
              <a:spcAft>
                <a:spcPts val="600"/>
              </a:spcAft>
              <a:defRPr sz="1350">
                <a:solidFill>
                  <a:srgbClr val="20334D"/>
                </a:solidFill>
              </a:defRPr>
            </a:pPr>
            <a:r>
              <a:t>For 4DVarNet we added it. Two designs, neither in the original paper.</a:t>
            </a:r>
          </a:p>
          <a:p>
            <a:pPr lvl="1">
              <a:spcAft>
                <a:spcPts val="600"/>
              </a:spcAft>
              <a:defRPr sz="1150">
                <a:solidFill>
                  <a:srgbClr val="596677"/>
                </a:solidFill>
              </a:defRPr>
            </a:pPr>
            <a:r>
              <a:t>So: four reconstruction methods, plus two 4DVarNet uncertainty designs that are ours, not the paper's.</a:t>
            </a:r>
          </a:p>
        </p:txBody>
      </p:sp>
      <p:pic>
        <p:nvPicPr>
          <p:cNvPr id="4" name="Picture 3" descr="m4_capability.png"/>
          <p:cNvPicPr>
            <a:picLocks noChangeAspect="1"/>
          </p:cNvPicPr>
          <p:nvPr/>
        </p:nvPicPr>
        <p:blipFill>
          <a:blip r:embed="rId3"/>
          <a:stretch>
            <a:fillRect/>
          </a:stretch>
        </p:blipFill>
        <p:spPr>
          <a:xfrm>
            <a:off x="960120" y="1253175"/>
            <a:ext cx="10241280" cy="316292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7295" cy="731520"/>
          </a:xfrm>
          <a:prstGeom prst="rect">
            <a:avLst/>
          </a:prstGeom>
          <a:noFill/>
        </p:spPr>
        <p:txBody>
          <a:bodyPr wrap="none">
            <a:spAutoFit/>
          </a:bodyPr>
          <a:lstStyle/>
          <a:p>
            <a:pPr>
              <a:defRPr sz="2800" b="1">
                <a:solidFill>
                  <a:srgbClr val="20334D"/>
                </a:solidFill>
              </a:defRPr>
            </a:pPr>
            <a:r>
              <a:t>Hypothesis</a:t>
            </a:r>
          </a:p>
        </p:txBody>
      </p:sp>
      <p:sp>
        <p:nvSpPr>
          <p:cNvPr id="3" name="TextBox 2"/>
          <p:cNvSpPr txBox="1"/>
          <p:nvPr/>
        </p:nvSpPr>
        <p:spPr>
          <a:xfrm>
            <a:off x="1051560" y="1600200"/>
            <a:ext cx="10149840" cy="4023360"/>
          </a:xfrm>
          <a:prstGeom prst="rect">
            <a:avLst/>
          </a:prstGeom>
          <a:noFill/>
        </p:spPr>
        <p:txBody>
          <a:bodyPr wrap="square">
            <a:spAutoFit/>
          </a:bodyPr>
          <a:lstStyle/>
          <a:p>
            <a:pPr>
              <a:spcAft>
                <a:spcPts val="600"/>
              </a:spcAft>
              <a:defRPr sz="2000">
                <a:solidFill>
                  <a:srgbClr val="20334D"/>
                </a:solidFill>
              </a:defRPr>
            </a:pPr>
            <a:r>
              <a:t>The ranking of these four methods is decided by a scoring convention that most papers do not state.</a:t>
            </a:r>
          </a:p>
          <a:p>
            <a:pPr>
              <a:spcBef>
                <a:spcPts val="900"/>
              </a:spcBef>
              <a:spcAft>
                <a:spcPts val="600"/>
              </a:spcAft>
              <a:defRPr sz="2000">
                <a:solidFill>
                  <a:srgbClr val="20334D"/>
                </a:solidFill>
              </a:defRPr>
            </a:pPr>
            <a:r>
              <a:t>Two independent tests, both on the same 7 held-out days:</a:t>
            </a:r>
          </a:p>
          <a:p>
            <a:pPr lvl="1">
              <a:spcAft>
                <a:spcPts val="600"/>
              </a:spcAft>
              <a:defRPr sz="1800">
                <a:solidFill>
                  <a:srgbClr val="596677"/>
                </a:solidFill>
              </a:defRPr>
            </a:pPr>
            <a:r>
              <a:t>accuracy — which cells count</a:t>
            </a:r>
          </a:p>
          <a:p>
            <a:pPr lvl="1">
              <a:spcAft>
                <a:spcPts val="600"/>
              </a:spcAft>
              <a:defRPr sz="1800">
                <a:solidFill>
                  <a:srgbClr val="596677"/>
                </a:solidFill>
              </a:defRPr>
            </a:pPr>
            <a:r>
              <a:t>uncertainty — which cells count</a:t>
            </a:r>
          </a:p>
          <a:p>
            <a:pPr>
              <a:spcBef>
                <a:spcPts val="900"/>
              </a:spcBef>
              <a:spcAft>
                <a:spcPts val="600"/>
              </a:spcAft>
              <a:defRPr sz="2000">
                <a:solidFill>
                  <a:srgbClr val="20334D"/>
                </a:solidFill>
              </a:defRPr>
            </a:pPr>
            <a:r>
              <a:t>If the hypothesis is wrong, the ordering survives both. It survives neither.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7295" cy="731520"/>
          </a:xfrm>
          <a:prstGeom prst="rect">
            <a:avLst/>
          </a:prstGeom>
          <a:noFill/>
        </p:spPr>
        <p:txBody>
          <a:bodyPr wrap="none">
            <a:spAutoFit/>
          </a:bodyPr>
          <a:lstStyle/>
          <a:p>
            <a:pPr>
              <a:defRPr sz="2800" b="1">
                <a:solidFill>
                  <a:srgbClr val="20334D"/>
                </a:solidFill>
              </a:defRPr>
            </a:pPr>
            <a:r>
              <a:t>Test 1 — accuracy: the same predictions, scored two ways</a:t>
            </a:r>
          </a:p>
        </p:txBody>
      </p:sp>
      <p:sp>
        <p:nvSpPr>
          <p:cNvPr id="3" name="TextBox 2"/>
          <p:cNvSpPr txBox="1"/>
          <p:nvPr/>
        </p:nvSpPr>
        <p:spPr>
          <a:xfrm>
            <a:off x="822960" y="5358384"/>
            <a:ext cx="10607040" cy="1234440"/>
          </a:xfrm>
          <a:prstGeom prst="rect">
            <a:avLst/>
          </a:prstGeom>
          <a:noFill/>
        </p:spPr>
        <p:txBody>
          <a:bodyPr wrap="square">
            <a:spAutoFit/>
          </a:bodyPr>
          <a:lstStyle/>
          <a:p>
            <a:pPr>
              <a:spcAft>
                <a:spcPts val="600"/>
              </a:spcAft>
              <a:defRPr sz="1280">
                <a:solidFill>
                  <a:srgbClr val="20334D"/>
                </a:solidFill>
              </a:defRPr>
            </a:pPr>
            <a:r>
              <a:t>DINCAE is first under one convention and last under the other — 4.5x worse than Senseiver. Nothing about the model changed.</a:t>
            </a:r>
          </a:p>
          <a:p>
            <a:pPr>
              <a:spcAft>
                <a:spcPts val="600"/>
              </a:spcAft>
              <a:defRPr sz="1280">
                <a:solidFill>
                  <a:srgbClr val="20334D"/>
                </a:solidFill>
              </a:defRPr>
            </a:pPr>
            <a:r>
              <a:t>Cause: DINCAE only defines velocity where density &gt; 0. 88.4% of blind velocity cells are empty, and on those the truth is exactly 0 (measured: 0.000% non-zero).</a:t>
            </a:r>
          </a:p>
          <a:p>
            <a:pPr>
              <a:spcAft>
                <a:spcPts val="600"/>
              </a:spcAft>
              <a:defRPr sz="1280">
                <a:solidFill>
                  <a:srgbClr val="20334D"/>
                </a:solidFill>
              </a:defRPr>
            </a:pPr>
            <a:r>
              <a:t>Convention A is the defensible one — “velocity” on an empty cell is not a physical quantity.</a:t>
            </a:r>
          </a:p>
          <a:p>
            <a:pPr>
              <a:spcAft>
                <a:spcPts val="600"/>
              </a:spcAft>
              <a:defRPr sz="1280">
                <a:solidFill>
                  <a:srgbClr val="20334D"/>
                </a:solidFill>
              </a:defRPr>
            </a:pPr>
            <a:r>
              <a:t>Left column scores the full field, right column the blind cells alone. Observed cells are handed to the model, so the right column is the reconstruction task.</a:t>
            </a:r>
          </a:p>
        </p:txBody>
      </p:sp>
      <p:pic>
        <p:nvPicPr>
          <p:cNvPr id="4" name="Picture 3" descr="m4_accuracy.png"/>
          <p:cNvPicPr>
            <a:picLocks noChangeAspect="1"/>
          </p:cNvPicPr>
          <p:nvPr/>
        </p:nvPicPr>
        <p:blipFill>
          <a:blip r:embed="rId3"/>
          <a:stretch>
            <a:fillRect/>
          </a:stretch>
        </p:blipFill>
        <p:spPr>
          <a:xfrm>
            <a:off x="2540384" y="932688"/>
            <a:ext cx="7080751" cy="431596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7295" cy="731520"/>
          </a:xfrm>
          <a:prstGeom prst="rect">
            <a:avLst/>
          </a:prstGeom>
          <a:noFill/>
        </p:spPr>
        <p:txBody>
          <a:bodyPr wrap="none">
            <a:spAutoFit/>
          </a:bodyPr>
          <a:lstStyle/>
          <a:p>
            <a:pPr>
              <a:defRPr sz="2800" b="1">
                <a:solidFill>
                  <a:srgbClr val="20334D"/>
                </a:solidFill>
              </a:defRPr>
            </a:pPr>
            <a:r>
              <a:t>Test 2 — uncertainty: what makes a sigma-hat useful</a:t>
            </a:r>
          </a:p>
        </p:txBody>
      </p:sp>
      <p:sp>
        <p:nvSpPr>
          <p:cNvPr id="3" name="TextBox 2"/>
          <p:cNvSpPr txBox="1"/>
          <p:nvPr/>
        </p:nvSpPr>
        <p:spPr>
          <a:xfrm>
            <a:off x="822960" y="5166360"/>
            <a:ext cx="10607040" cy="1417320"/>
          </a:xfrm>
          <a:prstGeom prst="rect">
            <a:avLst/>
          </a:prstGeom>
          <a:noFill/>
        </p:spPr>
        <p:txBody>
          <a:bodyPr wrap="square">
            <a:spAutoFit/>
          </a:bodyPr>
          <a:lstStyle/>
          <a:p>
            <a:pPr>
              <a:spcAft>
                <a:spcPts val="600"/>
              </a:spcAft>
              <a:defRPr sz="1300">
                <a:solidFill>
                  <a:srgbClr val="20334D"/>
                </a:solidFill>
              </a:defRPr>
            </a:pPr>
            <a:r>
              <a:t>Judged against a null model: replace every cell's sigma-hat with one constant, that split's own RMSE. It knows how big the error is on average and nothing about WHERE — and it scores a perfect 1.00 spread/skill for free.</a:t>
            </a:r>
          </a:p>
          <a:p>
            <a:pPr>
              <a:spcAft>
                <a:spcPts val="600"/>
              </a:spcAft>
              <a:defRPr sz="1300">
                <a:solidFill>
                  <a:srgbClr val="20334D"/>
                </a:solidFill>
              </a:defRPr>
            </a:pPr>
            <a:r>
              <a:t>Uncertainty built into the model beats it. Bolted on afterwards, or read off ensemble spread, does not.</a:t>
            </a:r>
          </a:p>
          <a:p>
            <a:pPr lvl="1">
              <a:spcAft>
                <a:spcPts val="600"/>
              </a:spcAft>
              <a:defRPr sz="1100">
                <a:solidFill>
                  <a:srgbClr val="596677"/>
                </a:solidFill>
              </a:defRPr>
            </a:pPr>
            <a:r>
              <a:t>This ordering is the one thing in the deck that does NOT move with the convention.</a:t>
            </a:r>
          </a:p>
        </p:txBody>
      </p:sp>
      <p:pic>
        <p:nvPicPr>
          <p:cNvPr id="4" name="Picture 3" descr="m4_uncertainty.png"/>
          <p:cNvPicPr>
            <a:picLocks noChangeAspect="1"/>
          </p:cNvPicPr>
          <p:nvPr/>
        </p:nvPicPr>
        <p:blipFill>
          <a:blip r:embed="rId3"/>
          <a:stretch>
            <a:fillRect/>
          </a:stretch>
        </p:blipFill>
        <p:spPr>
          <a:xfrm>
            <a:off x="2472705" y="1005840"/>
            <a:ext cx="7216108" cy="397763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7295" cy="731520"/>
          </a:xfrm>
          <a:prstGeom prst="rect">
            <a:avLst/>
          </a:prstGeom>
          <a:noFill/>
        </p:spPr>
        <p:txBody>
          <a:bodyPr wrap="none">
            <a:spAutoFit/>
          </a:bodyPr>
          <a:lstStyle/>
          <a:p>
            <a:pPr>
              <a:defRPr sz="2800" b="1">
                <a:solidFill>
                  <a:srgbClr val="20334D"/>
                </a:solidFill>
              </a:defRPr>
            </a:pPr>
            <a:r>
              <a:t>Action item — inference time, per frame</a:t>
            </a:r>
          </a:p>
        </p:txBody>
      </p:sp>
      <p:sp>
        <p:nvSpPr>
          <p:cNvPr id="3" name="TextBox 2"/>
          <p:cNvSpPr txBox="1"/>
          <p:nvPr/>
        </p:nvSpPr>
        <p:spPr>
          <a:xfrm>
            <a:off x="822960" y="5138928"/>
            <a:ext cx="10607040" cy="1417320"/>
          </a:xfrm>
          <a:prstGeom prst="rect">
            <a:avLst/>
          </a:prstGeom>
          <a:noFill/>
        </p:spPr>
        <p:txBody>
          <a:bodyPr wrap="square">
            <a:spAutoFit/>
          </a:bodyPr>
          <a:lstStyle/>
          <a:p>
            <a:pPr>
              <a:spcAft>
                <a:spcPts val="600"/>
              </a:spcAft>
              <a:defRPr sz="1300">
                <a:solidFill>
                  <a:srgbClr val="20334D"/>
                </a:solidFill>
              </a:defRPr>
            </a:pPr>
            <a:r>
              <a:t>You were right that last week's figure was total run time, not inference time. This is per frame: mean ± s.d. over 5 interleaved repeats, all four methods on the same node over the same frames, with nothing printed inside the timed region.</a:t>
            </a:r>
          </a:p>
          <a:p>
            <a:pPr>
              <a:spcAft>
                <a:spcPts val="600"/>
              </a:spcAft>
              <a:defRPr sz="1300">
                <a:solidFill>
                  <a:srgbClr val="20334D"/>
                </a:solidFill>
              </a:defRPr>
            </a:pPr>
            <a:r>
              <a:t>Senseiver is the fastest by a wide margin — and it is also the most accurate under Convention B.</a:t>
            </a:r>
          </a:p>
          <a:p>
            <a:pPr lvl="1">
              <a:spcAft>
                <a:spcPts val="600"/>
              </a:spcAft>
              <a:defRPr sz="1100">
                <a:solidFill>
                  <a:srgbClr val="596677"/>
                </a:solidFill>
              </a:defRPr>
            </a:pPr>
            <a:r>
              <a:t>Caveat on the 4DVarNet bar: it solves a whole 200-frame window at once, so its 2.74 ms is amortised over the window, not the wait for one frame.</a:t>
            </a:r>
          </a:p>
        </p:txBody>
      </p:sp>
      <p:pic>
        <p:nvPicPr>
          <p:cNvPr id="4" name="Picture 3" descr="m4_speed.png"/>
          <p:cNvPicPr>
            <a:picLocks noChangeAspect="1"/>
          </p:cNvPicPr>
          <p:nvPr/>
        </p:nvPicPr>
        <p:blipFill>
          <a:blip r:embed="rId3"/>
          <a:stretch>
            <a:fillRect/>
          </a:stretch>
        </p:blipFill>
        <p:spPr>
          <a:xfrm>
            <a:off x="1854212" y="1024128"/>
            <a:ext cx="8453095" cy="397763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7295" cy="731520"/>
          </a:xfrm>
          <a:prstGeom prst="rect">
            <a:avLst/>
          </a:prstGeom>
          <a:noFill/>
        </p:spPr>
        <p:txBody>
          <a:bodyPr wrap="none">
            <a:spAutoFit/>
          </a:bodyPr>
          <a:lstStyle/>
          <a:p>
            <a:pPr>
              <a:defRPr sz="2800" b="1">
                <a:solidFill>
                  <a:srgbClr val="20334D"/>
                </a:solidFill>
              </a:defRPr>
            </a:pPr>
            <a:r>
              <a:t>The ablation that settles it</a:t>
            </a:r>
          </a:p>
        </p:txBody>
      </p:sp>
      <p:sp>
        <p:nvSpPr>
          <p:cNvPr id="3" name="TextBox 2"/>
          <p:cNvSpPr txBox="1"/>
          <p:nvPr/>
        </p:nvSpPr>
        <p:spPr>
          <a:xfrm>
            <a:off x="914400" y="1325880"/>
            <a:ext cx="10424160" cy="4389120"/>
          </a:xfrm>
          <a:prstGeom prst="rect">
            <a:avLst/>
          </a:prstGeom>
          <a:noFill/>
        </p:spPr>
        <p:txBody>
          <a:bodyPr wrap="square">
            <a:spAutoFit/>
          </a:bodyPr>
          <a:lstStyle/>
          <a:p>
            <a:pPr>
              <a:spcAft>
                <a:spcPts val="600"/>
              </a:spcAft>
              <a:defRPr sz="1550">
                <a:solidFill>
                  <a:srgbClr val="20334D"/>
                </a:solidFill>
              </a:defRPr>
            </a:pPr>
            <a:r>
              <a:t>Same DINCAE architecture. Same 7 days. Same validation-picked checkpoint rule. The only change: supervise every cell instead of only the defined ones.</a:t>
            </a:r>
          </a:p>
          <a:p>
            <a:pPr lvl="1">
              <a:spcBef>
                <a:spcPts val="900"/>
              </a:spcBef>
              <a:spcAft>
                <a:spcPts val="600"/>
              </a:spcAft>
              <a:defRPr sz="1350">
                <a:solidFill>
                  <a:srgbClr val="596677"/>
                </a:solidFill>
              </a:defRPr>
            </a:pPr>
            <a:r>
              <a:t>all-cells blind RMSE:   0.757  -&gt;  0.173      (-77%)</a:t>
            </a:r>
          </a:p>
          <a:p>
            <a:pPr lvl="1">
              <a:spcAft>
                <a:spcPts val="600"/>
              </a:spcAft>
              <a:defRPr sz="1350">
                <a:solidFill>
                  <a:srgbClr val="596677"/>
                </a:solidFill>
              </a:defRPr>
            </a:pPr>
            <a:r>
              <a:t>defined blind RMSE:     0.329  -&gt;  0.349      (+5.9%)</a:t>
            </a:r>
          </a:p>
          <a:p>
            <a:pPr>
              <a:spcBef>
                <a:spcPts val="900"/>
              </a:spcBef>
              <a:spcAft>
                <a:spcPts val="600"/>
              </a:spcAft>
              <a:defRPr sz="1550">
                <a:solidFill>
                  <a:srgbClr val="20334D"/>
                </a:solidFill>
              </a:defRPr>
            </a:pPr>
            <a:r>
              <a:t>Last place, 4.5x behind, becomes second — by changing the loss mask, not the model. The gap under convention B was never a capability gap.</a:t>
            </a:r>
          </a:p>
          <a:p>
            <a:pPr>
              <a:spcAft>
                <a:spcPts val="600"/>
              </a:spcAft>
              <a:defRPr sz="1550">
                <a:solidFill>
                  <a:srgbClr val="20334D"/>
                </a:solidFill>
              </a:defRPr>
            </a:pPr>
            <a:r>
              <a:t>And the 5.9% it loses under convention A says the information form is genuinely part of why DINCAE wins there — not just its architecture.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